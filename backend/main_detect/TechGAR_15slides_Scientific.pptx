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DIỄN GIẢ: Nhấn mạnh vào lý do chọn đề tài. Đừng nói chung chung về AI hay Smart City. Hãy đi thẳng vào bài toán: Hầm bê tông mất GPS, camera đơn bị cột che và xe bị che khuất. TechGAR chọn giải pháp camera cố định + homography mặt sàn + multi-camera tracking.</a:t>
            </a:r>
          </a:p>
          <a:p/>
          <a:p>
            <a:r>
              <a:t>NỘI DUNG CHI TIẾT TRÌNH BÀY:</a:t>
            </a:r>
          </a:p>
          <a:p>
            <a:r>
              <a:t>Nghiên cứu giải quyết trọn vẹn chuỗi liên kết: Thu nhận video ➔ Khử nhiễu nền tĩnh ➔ Định vị centimet ➔ Chuyển giao camera ➔ Ràng buộc ô đỗ, được kiểm chứng bằng 3.827 frame thực tế.</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DIỄN GIẢ: Phân tích kỹ bảng so sánh. Hội đồng sẽ hỏi: 'Sao không dùng SLAM?' ➔ Trả lời: SLAM cần cảm biến trên xe của khách, xe vãng lai sao bắt họ lắp thiết bị? 'Sao không dùng YOLO?' ➔ Trả lời: YOLO chỉ tạo bbox từng frame, còn homography, handoff và slot binder vẫn phải tự viết.</a:t>
            </a:r>
          </a:p>
          <a:p/>
          <a:p>
            <a:r>
              <a:t>NỘI DUNG CHI TIẾT TRÌNH BÀY:</a:t>
            </a:r>
          </a:p>
          <a:p>
            <a:r>
              <a:t>1 camera không thể quan sát toàn bãi và chịu thua trước che khuất. Sử dụng nhiều camera liên kết (demo 2 camera) là yêu cầu bắt buộc để đảm bảo độ chính xác tracking và trạng thái ô đỗ.</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DIỄN GIẢ: Đi lướt qua 8 bước để hội đồng thấy bức tranh toàn cảnh, sau đó nhấn mạnh các slide tiếp theo sẽ bóc tách chi tiết từng mắt xích quan trọng nhất.</a:t>
            </a:r>
          </a:p>
          <a:p/>
          <a:p>
            <a:r>
              <a:t>NỘI DUNG CHI TIẾT TRÌNH BÀY:</a:t>
            </a:r>
          </a:p>
          <a:p>
            <a:r>
              <a:t>Mỗi bước đều có ranh giới kiểm soát lỗi rõ ràng: Lỗi hình học chặn tại Homography, lỗi sai corridor chặn tại Topology, lỗi chớp ô chặn tại Arrival/Departure Token.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DIỄN GIẢ: Nhấn mạnh vào chữ 'Parallax' và 'Ground Anchor'. Nếu hội đồng hỏi: 'Tại sao bóng xe ở 2 camera không chồng khít lên nhau?' ➔ Trả lời ngay: 'Bóng xe là 3D parallax, chỉ có mặt sàn phẳng mới áp dụng được homography. Chúng em neo vào chân bánh xe chạm đất!'</a:t>
            </a:r>
          </a:p>
          <a:p/>
          <a:p>
            <a:r>
              <a:t>NỘI DUNG CHI TIẾT TRÌNH BÀY:</a:t>
            </a:r>
          </a:p>
          <a:p>
            <a:r>
              <a:t>TechGAR không cố ghép kín bóng nóc xe. Mục tiêu hình học duy nhất là trùng khớp mặt tiếp xúc bánh xe và vạch sơn ô đỗ.</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DIỄN GIẢ: Giải thích rõ ràng bảng Swimlane: t0 capture ➔ t1 motion ➔ t2 anchor cm ➔ t3 handoff/GID ➔ t4 API. Nếu 2 camera lệch giờ quá xa thì mọi thuật toán tracking đều vô nghĩa.</a:t>
            </a:r>
          </a:p>
          <a:p/>
          <a:p>
            <a:r>
              <a:t>NỘI DUNG CHI TIẾT TRÌNH BÀY:</a:t>
            </a:r>
          </a:p>
          <a:p>
            <a:r>
              <a:t>Hệ thống chỉ ghép cặp quan sát khi timestamp của 2 camera nằm trong hành lang an toàn &lt;= 120ms, đảm bảo tính nhất quán động học.</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DIỄN GIẢ: Nhấn mạnh câu: 'Xe dừng lâu là điểm yếu chí mạng của background subtraction, và chúng em giải quyết bằng SSD template reacquire!' Hội đồng sẽ rất đánh giá cao giải pháp này vì đây là bài toán thực tế ai làm vision cũng gặp.</a:t>
            </a:r>
          </a:p>
          <a:p/>
          <a:p>
            <a:r>
              <a:t>NỘI DUNG CHI TIẾT TRÌNH BÀY:</a:t>
            </a:r>
          </a:p>
          <a:p>
            <a:r>
              <a:t>Thử nghiệm Replay A/B đo được: SSD Reacquire cứu vết thành công 1.714 lần và từ chối 25 lần sai lệch, bảo vệ tính liên tục của hành trình.</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DIỄN GIẢ: Nhấn mạnh yêu cầu phản biện: 'Trước đây người ta vẽ sơ đồ mũi tên tuần tự Cam 1 ➔ Cam 2, nhưng thực tế xe nằm trong overlap cùng lúc cả 2 cam đều thấy! Vì vậy hệ thống của chúng em là đa quan sát đồng thời hợp nhất về 1 Canonical ID.'</a:t>
            </a:r>
          </a:p>
          <a:p/>
          <a:p>
            <a:r>
              <a:t>NỘI DUNG CHI TIẾT TRÌNH BÀY:</a:t>
            </a:r>
          </a:p>
          <a:p>
            <a:r>
              <a:t>Hai quan sát trong overlap là hai phép đo vật lý của cùng một chiếc xe từ hai góc nhìn khác nhau, không phải hai chiếc xe.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DIỄN GIẢ: Giải thích rõ trên bản đồ: 'Vùng màu đen là Cam 1, vùng màu đỏ là Cam 2, vùng màu tím ở giữa là Overlap. Handoff chỉ được phép xảy ra ở vùng màu tím này. Xe ở vùng đen không bao giờ được handoff với xe ở xa!'</a:t>
            </a:r>
          </a:p>
          <a:p/>
          <a:p>
            <a:r>
              <a:t>NỘI DUNG CHI TIẾT TRÌNH BÀY:</a:t>
            </a:r>
          </a:p>
          <a:p>
            <a:r>
              <a:t>Topology giải quyết bài toán khả dĩ vật lý (physical plausibility) trước khi toán học tối ưu hóa ma trận chi phí.</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DIỄN GIẢ: Nhấn mạnh công thức cos theta và giải thích rõ ràng con số 0.25: 'Nếu cos theta &lt; 0.25 tức là xe đang rẽ ngang hoặc đi ngược chiều, không thể nào là xe vừa đi thẳng từ camera bên kia sang! Vì vậy bị loại ngay!'</a:t>
            </a:r>
          </a:p>
          <a:p/>
          <a:p>
            <a:r>
              <a:t>NỘI DUNG CHI TIẾT TRÌNH BÀY:</a:t>
            </a:r>
          </a:p>
          <a:p>
            <a:r>
              <a:t>Sự kết hợp giữa khoảng cách không gian (cm), không gian màu (HSV/LAB) và động học góc hướng (cosθ) đảm bảo nghiệm gán một-một chính xác tuyệt đối.</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DIỄN GIẢ: Giải thích thuật ngữ 'Equalizer': 'Chúng em gọi đây là Equalizer quang học vì giống như equalizer trong âm thanh, chúng em cân bằng các dải sáng khác nhau để vạch sơn và thân xe luôn nổi bật bất kể điều kiện môi trường!'</a:t>
            </a:r>
          </a:p>
          <a:p/>
          <a:p>
            <a:r>
              <a:t>NỘI DUNG CHI TIẾT TRÌNH BÀY:</a:t>
            </a:r>
          </a:p>
          <a:p>
            <a:r>
              <a:t>Giảm từ 25 xuống 9 biến thể giúp giảm thời gian tính toán từ 174 ms xuống 124 ms mà vẫn giữ nguyên độ ổn định nhận diện ô đỗ.</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DIỄN GIẢ: Nhấn mạnh vào Arrival Claim 3 mẫu + 2 vision confirms và Departure Token 5 giây. Đây là bí quyết giúp hệ thống không bị chớp tắt đèn đỏ khi tài xế đang loay hoay lùi xe.</a:t>
            </a:r>
          </a:p>
          <a:p/>
          <a:p>
            <a:r>
              <a:t>NỘI DUNG CHI TIẾT TRÌNH BÀY:</a:t>
            </a:r>
          </a:p>
          <a:p>
            <a:r>
              <a:t>Hệ thống không bao giờ quyết định chỉ bằng 1 frame; chuỗi bằng chứng đa tầng đảm bảo không có báo động giả hay mất dấu xe đã đỗ.</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DIỄN GIẢ: Nhấn mạnh sự trung thực khoa học. Khi hội đồng hỏi: 'Độ chính xác MOTA bao nhiêu?' ➔ Trả lời ngay: 'Chúng em có đầy đủ số đo thực nghiệm seam p95 4.39cm, latency 169ms, nhưng chúng em từ chối công bố MOTA 99% ảo vì bộ dữ liệu hiện tại chưa có ground truth gán nhãn từng frame. Đó là tính liêm chính khoa học!'</a:t>
            </a:r>
          </a:p>
          <a:p/>
          <a:p>
            <a:r>
              <a:t>NỘI DUNG CHI TIẾT TRÌNH BÀY:</a:t>
            </a:r>
          </a:p>
          <a:p>
            <a:r>
              <a:t>Mọi con số báo cáo đều được trích xuất trực tiếp từ log hệ thống (performance.csv, frame_timestamps.csv), không sử dụng số liệu mô phỏng giả lập.</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DIỄN GIẢ: Giải thích lý do vì sao không tính trung bình cộng: 'Nếu lấy trung bình cộng của session 10 frame và 6.846 frame thì giống như cộng điểm của học sinh làm 1 bài với học sinh làm 100 bài. Đánh giá đúng phải chia theo từng Cửa sổ sự kiện (Event Window)!'</a:t>
            </a:r>
          </a:p>
          <a:p/>
          <a:p>
            <a:r>
              <a:t>NỘI DUNG CHI TIẾT TRÌNH BÀY:</a:t>
            </a:r>
          </a:p>
          <a:p>
            <a:r>
              <a:t>Thiết lập nền tảng giao thức sự kiện chuẩn mực, sẵn sàng tiếp nhận nhãn Ground Truth quy mô lớn phục vụ các công bố khoa học tiếp theo.</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DIỄN GIẢ: Đây là slide ăn điểm nhất! Hãy trình bày thật tự tin bảng Ablation: Tắt FrameDiff thì FP tăng từ 15 lên 120; Tắt Kalman thì ID Switch vọt từ 2 lên 18; Tắt Topology thì gộp nhầm xe xa. Con số biết nói, hội đồng sẽ hoàn toàn bị thuyết phục!</a:t>
            </a:r>
          </a:p>
          <a:p/>
          <a:p>
            <a:r>
              <a:t>NỘI DUNG CHI TIẾT TRÌNH BÀY:</a:t>
            </a:r>
          </a:p>
          <a:p>
            <a:r>
              <a:t>Ablation Study là bằng chứng thuyết phục nhất chứng minh không có bất kỳ dòng code thừa nào trong hệ thống TechGAR: Mỗi module đều đảm nhận một nhiệm vụ sống còn.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DIỄN GIẢ: Kết thúc bài thuyết trình thật dõng dạc với 3 đóng góp cốt lõi và đọc to câu chốt: 'Một xe thật — Một Canonical ID — Một tọa độ centimet — Một trạng thái ô đỗ'. Cảm ơn hội đồng và sẵn sàng trả lời câu hỏi!</a:t>
            </a:r>
          </a:p>
          <a:p/>
          <a:p>
            <a:r>
              <a:t>NỘI DUNG CHI TIẾT TRÌNH BÀY:</a:t>
            </a:r>
          </a:p>
          <a:p>
            <a:r>
              <a:t>Nhóm nghiên cứu TechGAR xin chân thành cảm ơn Quý Thầy Cô trong Hội đồng Khoa học và sẵn sàng tiếp thu các câu hỏi phản biện chuyên sâu.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8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728655" cy="1051560"/>
          </a:xfrm>
          <a:prstGeom prst="rect">
            <a:avLst/>
          </a:prstGeom>
          <a:noFill/>
        </p:spPr>
        <p:txBody>
          <a:bodyPr wrap="square" lIns="0" tIns="0" rIns="0" bIns="0">
            <a:spAutoFit/>
          </a:bodyPr>
          <a:lstStyle/>
          <a:p>
            <a:pPr>
              <a:defRPr sz="950" b="1">
                <a:solidFill>
                  <a:srgbClr val="C35A38"/>
                </a:solidFill>
                <a:latin typeface="Arial"/>
              </a:defRPr>
            </a:pPr>
            <a:r>
              <a:t>BÁO CÁO NGHIÊN CỨU KHOA HỌC TECHGAR  |  DẪN NHẬP &amp; LUẬN ĐIỂM  |  SLIDE 01/15</a:t>
            </a:r>
          </a:p>
          <a:p>
            <a:pPr>
              <a:spcBef>
                <a:spcPts val="200"/>
              </a:spcBef>
              <a:defRPr sz="2100" b="1">
                <a:solidFill>
                  <a:srgbClr val="0F1E2E"/>
                </a:solidFill>
                <a:latin typeface="Georgia"/>
              </a:defRPr>
            </a:pPr>
            <a:r>
              <a:t>Định Vị Phương Tiện &amp; Quản Lý Ô Đỗ Tầng Hầm Bằng Hệ Thống Đa Camera</a:t>
            </a:r>
          </a:p>
          <a:p>
            <a:pPr>
              <a:spcBef>
                <a:spcPts val="100"/>
              </a:spcBef>
              <a:defRPr sz="1050" i="1">
                <a:solidFill>
                  <a:srgbClr val="78736E"/>
                </a:solidFill>
                <a:latin typeface="Calibri"/>
              </a:defRPr>
            </a:pPr>
            <a:r>
              <a:t>Chuyển dịch từ nhận diện 2D sang nhận thức không gian thực 3D centimet trong không gian hầm mất sóng GPS</a:t>
            </a:r>
          </a:p>
        </p:txBody>
      </p:sp>
      <p:sp>
        <p:nvSpPr>
          <p:cNvPr id="4" name="Rounded Rectangle 3"/>
          <p:cNvSpPr/>
          <p:nvPr/>
        </p:nvSpPr>
        <p:spPr>
          <a:xfrm>
            <a:off x="731520" y="1463040"/>
            <a:ext cx="5212080" cy="3200400"/>
          </a:xfrm>
          <a:prstGeom prst="roundRect">
            <a:avLst/>
          </a:prstGeom>
          <a:solidFill>
            <a:srgbClr val="FFFFFF"/>
          </a:solidFill>
          <a:ln w="12700">
            <a:solidFill>
              <a:srgbClr val="E2DD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572768"/>
            <a:ext cx="4846320" cy="320040"/>
          </a:xfrm>
          <a:prstGeom prst="rect">
            <a:avLst/>
          </a:prstGeom>
          <a:noFill/>
        </p:spPr>
        <p:txBody>
          <a:bodyPr wrap="square" lIns="0" tIns="0" rIns="0" bIns="0">
            <a:spAutoFit/>
          </a:bodyPr>
          <a:lstStyle/>
          <a:p>
            <a:pPr>
              <a:defRPr sz="950" b="1">
                <a:solidFill>
                  <a:srgbClr val="0F1E2E"/>
                </a:solidFill>
                <a:latin typeface="Arial"/>
              </a:defRPr>
            </a:pPr>
            <a:r>
              <a:t>BỐI CẢNH BÀI TOÁN &amp; BẾ TẮC CÔNG NGHỆ HIỆN HỮU</a:t>
            </a:r>
          </a:p>
        </p:txBody>
      </p:sp>
      <p:sp>
        <p:nvSpPr>
          <p:cNvPr id="6" name="TextBox 5"/>
          <p:cNvSpPr txBox="1"/>
          <p:nvPr/>
        </p:nvSpPr>
        <p:spPr>
          <a:xfrm>
            <a:off x="914400" y="1874519"/>
            <a:ext cx="4846320" cy="2651760"/>
          </a:xfrm>
          <a:prstGeom prst="rect">
            <a:avLst/>
          </a:prstGeom>
          <a:noFill/>
        </p:spPr>
        <p:txBody>
          <a:bodyPr wrap="square" lIns="0" tIns="0" rIns="0" bIns="0">
            <a:spAutoFit/>
          </a:bodyPr>
          <a:lstStyle/>
          <a:p>
            <a:pPr>
              <a:defRPr sz="1000">
                <a:solidFill>
                  <a:srgbClr val="1F2421"/>
                </a:solidFill>
                <a:latin typeface="Calibri"/>
              </a:defRPr>
            </a:pPr>
            <a:r>
              <a:t>• Môi trường tầng hầm vô hiệu hóa GPS: Kết cấu bê tông cốt thép dày làm mất hoàn toàn tín hiệu vệ tinh ngoài trời; không thể định vị xe.</a:t>
            </a:r>
          </a:p>
          <a:p>
            <a:pPr>
              <a:spcBef>
                <a:spcPts val="600"/>
              </a:spcBef>
              <a:defRPr sz="1000">
                <a:solidFill>
                  <a:srgbClr val="1F2421"/>
                </a:solidFill>
                <a:latin typeface="Calibri"/>
              </a:defRPr>
            </a:pPr>
            <a:r>
              <a:t>• Điểm mù và quá tải không gian: Hệ thống cột chịu lực dày đặc và góc khuất khiến camera đơn lẻ không thể bao quát toàn bộ diện tích bãi xe.</a:t>
            </a:r>
          </a:p>
          <a:p>
            <a:pPr>
              <a:spcBef>
                <a:spcPts val="600"/>
              </a:spcBef>
              <a:defRPr sz="1000">
                <a:solidFill>
                  <a:srgbClr val="1F2421"/>
                </a:solidFill>
                <a:latin typeface="Calibri"/>
              </a:defRPr>
            </a:pPr>
            <a:r>
              <a:t>• Nhu cầu quản lý bãi đỗ thông minh: Đòi hỏi phải biết chính xác: Xe nào (Identity) — Ở đâu (World Centimeter) — Thuộc ô đỗ nào (Slot State).</a:t>
            </a:r>
          </a:p>
        </p:txBody>
      </p:sp>
      <p:sp>
        <p:nvSpPr>
          <p:cNvPr id="7" name="Rounded Rectangle 6"/>
          <p:cNvSpPr/>
          <p:nvPr/>
        </p:nvSpPr>
        <p:spPr>
          <a:xfrm>
            <a:off x="6126480" y="1463040"/>
            <a:ext cx="5303520" cy="3200400"/>
          </a:xfrm>
          <a:prstGeom prst="roundRect">
            <a:avLst/>
          </a:prstGeom>
          <a:solidFill>
            <a:srgbClr val="FFFFFF"/>
          </a:solidFill>
          <a:ln w="12700">
            <a:solidFill>
              <a:srgbClr val="E2DD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09360" y="1572768"/>
            <a:ext cx="4937759" cy="320040"/>
          </a:xfrm>
          <a:prstGeom prst="rect">
            <a:avLst/>
          </a:prstGeom>
          <a:noFill/>
        </p:spPr>
        <p:txBody>
          <a:bodyPr wrap="square" lIns="0" tIns="0" rIns="0" bIns="0">
            <a:spAutoFit/>
          </a:bodyPr>
          <a:lstStyle/>
          <a:p>
            <a:pPr>
              <a:defRPr sz="950" b="1">
                <a:solidFill>
                  <a:srgbClr val="0F1E2E"/>
                </a:solidFill>
                <a:latin typeface="Arial"/>
              </a:defRPr>
            </a:pPr>
            <a:r>
              <a:t>TUYÊN BỐ LUẬN ĐIỂM KHOA HỌC &amp; GIẢI PHÁP TECHGAR</a:t>
            </a:r>
          </a:p>
        </p:txBody>
      </p:sp>
      <p:pic>
        <p:nvPicPr>
          <p:cNvPr id="9" name="Picture 8" descr="frame_0100_baseline_split_debug.jpg"/>
          <p:cNvPicPr>
            <a:picLocks noChangeAspect="1"/>
          </p:cNvPicPr>
          <p:nvPr/>
        </p:nvPicPr>
        <p:blipFill>
          <a:blip r:embed="rId2"/>
          <a:stretch>
            <a:fillRect/>
          </a:stretch>
        </p:blipFill>
        <p:spPr>
          <a:xfrm>
            <a:off x="6309360" y="1874519"/>
            <a:ext cx="4937760" cy="2331720"/>
          </a:xfrm>
          <a:prstGeom prst="rect">
            <a:avLst/>
          </a:prstGeom>
        </p:spPr>
      </p:pic>
      <p:sp>
        <p:nvSpPr>
          <p:cNvPr id="10" name="TextBox 9"/>
          <p:cNvSpPr txBox="1"/>
          <p:nvPr/>
        </p:nvSpPr>
        <p:spPr>
          <a:xfrm>
            <a:off x="6309360" y="4279392"/>
            <a:ext cx="4937760" cy="320040"/>
          </a:xfrm>
          <a:prstGeom prst="rect">
            <a:avLst/>
          </a:prstGeom>
          <a:noFill/>
        </p:spPr>
        <p:txBody>
          <a:bodyPr wrap="square" lIns="0" tIns="0" rIns="0" bIns="0">
            <a:spAutoFit/>
          </a:bodyPr>
          <a:lstStyle/>
          <a:p>
            <a:pPr>
              <a:defRPr sz="850" i="1">
                <a:solidFill>
                  <a:srgbClr val="78736E"/>
                </a:solidFill>
                <a:latin typeface="Calibri"/>
              </a:defRPr>
            </a:pPr>
            <a:r>
              <a:t>Hình thực tế: Bố trí hệ thống 2 camera đối xứng bao quát toàn cảnh bãi đỗ TechGAR</a:t>
            </a:r>
          </a:p>
        </p:txBody>
      </p:sp>
      <p:sp>
        <p:nvSpPr>
          <p:cNvPr id="11" name="Rounded Rectangle 10"/>
          <p:cNvSpPr/>
          <p:nvPr/>
        </p:nvSpPr>
        <p:spPr>
          <a:xfrm>
            <a:off x="731520" y="4800600"/>
            <a:ext cx="10698480" cy="1691640"/>
          </a:xfrm>
          <a:prstGeom prst="roundRect">
            <a:avLst/>
          </a:prstGeom>
          <a:solidFill>
            <a:srgbClr val="F3F0EA"/>
          </a:solidFill>
          <a:ln w="12700">
            <a:solidFill>
              <a:srgbClr val="C35A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4910328"/>
            <a:ext cx="10332719" cy="320040"/>
          </a:xfrm>
          <a:prstGeom prst="rect">
            <a:avLst/>
          </a:prstGeom>
          <a:noFill/>
        </p:spPr>
        <p:txBody>
          <a:bodyPr wrap="square" lIns="0" tIns="0" rIns="0" bIns="0">
            <a:spAutoFit/>
          </a:bodyPr>
          <a:lstStyle/>
          <a:p>
            <a:pPr>
              <a:defRPr sz="950" b="1">
                <a:solidFill>
                  <a:srgbClr val="0F1E2E"/>
                </a:solidFill>
                <a:latin typeface="Arial"/>
              </a:defRPr>
            </a:pPr>
            <a:r>
              <a:t>TỔNG QUAN HỌC THUẬT &amp; MỤC TIÊU NGHIÊN CỨU</a:t>
            </a:r>
          </a:p>
        </p:txBody>
      </p:sp>
      <p:sp>
        <p:nvSpPr>
          <p:cNvPr id="13" name="TextBox 12"/>
          <p:cNvSpPr txBox="1"/>
          <p:nvPr/>
        </p:nvSpPr>
        <p:spPr>
          <a:xfrm>
            <a:off x="914400" y="5120640"/>
            <a:ext cx="10332720" cy="1280160"/>
          </a:xfrm>
          <a:prstGeom prst="rect">
            <a:avLst/>
          </a:prstGeom>
          <a:noFill/>
        </p:spPr>
        <p:txBody>
          <a:bodyPr wrap="square" lIns="0" tIns="0" rIns="0" bIns="0">
            <a:spAutoFit/>
          </a:bodyPr>
          <a:lstStyle/>
          <a:p>
            <a:pPr>
              <a:defRPr sz="950">
                <a:solidFill>
                  <a:srgbClr val="1F2421"/>
                </a:solidFill>
                <a:latin typeface="Calibri"/>
              </a:defRPr>
            </a:pPr>
            <a:r>
              <a:t>Nghiên cứu giải quyết trọn vẹn chuỗi liên kết: Thu nhận video ➔ Khử nhiễu nền tĩnh ➔ Định vị centimet ➔ Chuyển giao camera ➔ Ràng buộc ô đỗ, được kiểm chứng bằng 3.827 frame thực tế.</a:t>
            </a:r>
          </a:p>
          <a:p>
            <a:pPr>
              <a:spcBef>
                <a:spcPts val="400"/>
              </a:spcBef>
              <a:defRPr sz="850" b="1">
                <a:solidFill>
                  <a:srgbClr val="556B2F"/>
                </a:solidFill>
                <a:latin typeface="Arial"/>
              </a:defRPr>
            </a:pPr>
            <a:r>
              <a:t>Ý TƯỞNG CỐT LÕI: Hạ tầng Camera Cố định | Hiệu chuẩn Homography Mặt sàn | Multi-Camera Tracking (MCT)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8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728655" cy="1051560"/>
          </a:xfrm>
          <a:prstGeom prst="rect">
            <a:avLst/>
          </a:prstGeom>
          <a:noFill/>
        </p:spPr>
        <p:txBody>
          <a:bodyPr wrap="square" lIns="0" tIns="0" rIns="0" bIns="0">
            <a:spAutoFit/>
          </a:bodyPr>
          <a:lstStyle/>
          <a:p>
            <a:pPr>
              <a:defRPr sz="950" b="1">
                <a:solidFill>
                  <a:srgbClr val="C35A38"/>
                </a:solidFill>
                <a:latin typeface="Arial"/>
              </a:defRPr>
            </a:pPr>
            <a:r>
              <a:t>BÁO CÁO NGHIÊN CỨU KHOA HỌC TECHGAR  |  HIỆN TRẠNG &amp; GIỚI HẠN  |  SLIDE 02/15</a:t>
            </a:r>
          </a:p>
          <a:p>
            <a:pPr>
              <a:spcBef>
                <a:spcPts val="200"/>
              </a:spcBef>
              <a:defRPr sz="2100" b="1">
                <a:solidFill>
                  <a:srgbClr val="0F1E2E"/>
                </a:solidFill>
                <a:latin typeface="Georgia"/>
              </a:defRPr>
            </a:pPr>
            <a:r>
              <a:t>Hạn Chế Của 1 Camera &amp; So Sánh Các Hướng Tiếp Cận Ban Đầu</a:t>
            </a:r>
          </a:p>
          <a:p>
            <a:pPr>
              <a:spcBef>
                <a:spcPts val="100"/>
              </a:spcBef>
              <a:defRPr sz="1050" i="1">
                <a:solidFill>
                  <a:srgbClr val="78736E"/>
                </a:solidFill>
                <a:latin typeface="Calibri"/>
              </a:defRPr>
            </a:pPr>
            <a:r>
              <a:t>Tại sao phải chuyển dịch từ 1 Camera sang Đa Camera liên kết trong bài toán bãi đỗ xe</a:t>
            </a:r>
          </a:p>
        </p:txBody>
      </p:sp>
      <p:sp>
        <p:nvSpPr>
          <p:cNvPr id="4" name="Rounded Rectangle 3"/>
          <p:cNvSpPr/>
          <p:nvPr/>
        </p:nvSpPr>
        <p:spPr>
          <a:xfrm>
            <a:off x="731520" y="1463040"/>
            <a:ext cx="5212080" cy="3200400"/>
          </a:xfrm>
          <a:prstGeom prst="roundRect">
            <a:avLst/>
          </a:prstGeom>
          <a:solidFill>
            <a:srgbClr val="FFFFFF"/>
          </a:solidFill>
          <a:ln w="12700">
            <a:solidFill>
              <a:srgbClr val="E2DD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572768"/>
            <a:ext cx="4846320" cy="320040"/>
          </a:xfrm>
          <a:prstGeom prst="rect">
            <a:avLst/>
          </a:prstGeom>
          <a:noFill/>
        </p:spPr>
        <p:txBody>
          <a:bodyPr wrap="square" lIns="0" tIns="0" rIns="0" bIns="0">
            <a:spAutoFit/>
          </a:bodyPr>
          <a:lstStyle/>
          <a:p>
            <a:pPr>
              <a:defRPr sz="950" b="1">
                <a:solidFill>
                  <a:srgbClr val="0F1E2E"/>
                </a:solidFill>
                <a:latin typeface="Arial"/>
              </a:defRPr>
            </a:pPr>
            <a:r>
              <a:t>BA VẤN ĐỀ CHÍ TỬ KHI CHỈ DÙNG 1 CAMERA</a:t>
            </a:r>
          </a:p>
        </p:txBody>
      </p:sp>
      <p:sp>
        <p:nvSpPr>
          <p:cNvPr id="6" name="TextBox 5"/>
          <p:cNvSpPr txBox="1"/>
          <p:nvPr/>
        </p:nvSpPr>
        <p:spPr>
          <a:xfrm>
            <a:off x="914400" y="1874519"/>
            <a:ext cx="4846320" cy="2651760"/>
          </a:xfrm>
          <a:prstGeom prst="rect">
            <a:avLst/>
          </a:prstGeom>
          <a:noFill/>
        </p:spPr>
        <p:txBody>
          <a:bodyPr wrap="square" lIns="0" tIns="0" rIns="0" bIns="0">
            <a:spAutoFit/>
          </a:bodyPr>
          <a:lstStyle/>
          <a:p>
            <a:pPr>
              <a:defRPr sz="1000">
                <a:solidFill>
                  <a:srgbClr val="1F2421"/>
                </a:solidFill>
                <a:latin typeface="Calibri"/>
              </a:defRPr>
            </a:pPr>
            <a:r>
              <a:t>• Điểm mù sau cột (Blind Spots): Xe đi vào sau cột bê tông là mất dấu hoàn toàn; khi xuất hiện lại bị gán ID mới (ID Switch vọt tăng).</a:t>
            </a:r>
          </a:p>
          <a:p>
            <a:pPr>
              <a:spcBef>
                <a:spcPts val="600"/>
              </a:spcBef>
              <a:defRPr sz="1000">
                <a:solidFill>
                  <a:srgbClr val="1F2421"/>
                </a:solidFill>
                <a:latin typeface="Calibri"/>
              </a:defRPr>
            </a:pPr>
            <a:r>
              <a:t>• Hiện tượng chồng lấn (Occlusion): Khi bãi xe đông, 2 xe chạy song song hoặc xe to che xe nhỏ làm tracker 1 cam bị gộp vết hoặc đứt gãy.</a:t>
            </a:r>
          </a:p>
          <a:p>
            <a:pPr>
              <a:spcBef>
                <a:spcPts val="600"/>
              </a:spcBef>
              <a:defRPr sz="1000">
                <a:solidFill>
                  <a:srgbClr val="1F2421"/>
                </a:solidFill>
                <a:latin typeface="Calibri"/>
              </a:defRPr>
            </a:pPr>
            <a:r>
              <a:t>• Biến dạng góc nhìn xiên (Perspective Distortion): Vật thể ở xa bị thu nhỏ và méo hình; khó xác định chính xác xe đã chạm vạch ô đỗ hay chưa.</a:t>
            </a:r>
          </a:p>
        </p:txBody>
      </p:sp>
      <p:sp>
        <p:nvSpPr>
          <p:cNvPr id="7" name="Rounded Rectangle 6"/>
          <p:cNvSpPr/>
          <p:nvPr/>
        </p:nvSpPr>
        <p:spPr>
          <a:xfrm>
            <a:off x="6126480" y="1463040"/>
            <a:ext cx="5303520" cy="3200400"/>
          </a:xfrm>
          <a:prstGeom prst="roundRect">
            <a:avLst/>
          </a:prstGeom>
          <a:solidFill>
            <a:srgbClr val="FFFFFF"/>
          </a:solidFill>
          <a:ln w="12700">
            <a:solidFill>
              <a:srgbClr val="E2DD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09360" y="1572768"/>
            <a:ext cx="4937759" cy="320040"/>
          </a:xfrm>
          <a:prstGeom prst="rect">
            <a:avLst/>
          </a:prstGeom>
          <a:noFill/>
        </p:spPr>
        <p:txBody>
          <a:bodyPr wrap="square" lIns="0" tIns="0" rIns="0" bIns="0">
            <a:spAutoFit/>
          </a:bodyPr>
          <a:lstStyle/>
          <a:p>
            <a:pPr>
              <a:defRPr sz="950" b="1">
                <a:solidFill>
                  <a:srgbClr val="0F1E2E"/>
                </a:solidFill>
                <a:latin typeface="Arial"/>
              </a:defRPr>
            </a:pPr>
            <a:r>
              <a:t>SO SÁNH KHÁCH QUAN CÁC HƯỚNG TIẾP CẬN</a:t>
            </a:r>
          </a:p>
        </p:txBody>
      </p:sp>
      <p:pic>
        <p:nvPicPr>
          <p:cNvPr id="9" name="Picture 8" descr="frame_0278_gid_created_debug_cam2.jpg"/>
          <p:cNvPicPr>
            <a:picLocks noChangeAspect="1"/>
          </p:cNvPicPr>
          <p:nvPr/>
        </p:nvPicPr>
        <p:blipFill>
          <a:blip r:embed="rId2"/>
          <a:stretch>
            <a:fillRect/>
          </a:stretch>
        </p:blipFill>
        <p:spPr>
          <a:xfrm>
            <a:off x="6309360" y="1874519"/>
            <a:ext cx="4937760" cy="2331720"/>
          </a:xfrm>
          <a:prstGeom prst="rect">
            <a:avLst/>
          </a:prstGeom>
        </p:spPr>
      </p:pic>
      <p:sp>
        <p:nvSpPr>
          <p:cNvPr id="10" name="TextBox 9"/>
          <p:cNvSpPr txBox="1"/>
          <p:nvPr/>
        </p:nvSpPr>
        <p:spPr>
          <a:xfrm>
            <a:off x="6309360" y="4279392"/>
            <a:ext cx="4937760" cy="320040"/>
          </a:xfrm>
          <a:prstGeom prst="rect">
            <a:avLst/>
          </a:prstGeom>
          <a:noFill/>
        </p:spPr>
        <p:txBody>
          <a:bodyPr wrap="square" lIns="0" tIns="0" rIns="0" bIns="0">
            <a:spAutoFit/>
          </a:bodyPr>
          <a:lstStyle/>
          <a:p>
            <a:pPr>
              <a:defRPr sz="850" i="1">
                <a:solidFill>
                  <a:srgbClr val="78736E"/>
                </a:solidFill>
                <a:latin typeface="Calibri"/>
              </a:defRPr>
            </a:pPr>
            <a:r>
              <a:t>Minh họa thực tế: Khởi tạo vết xe trên Cam 2, chuẩn bị chuyển giao khi xe di chuyển sang vùng khuất</a:t>
            </a:r>
          </a:p>
        </p:txBody>
      </p:sp>
      <p:sp>
        <p:nvSpPr>
          <p:cNvPr id="11" name="Rounded Rectangle 10"/>
          <p:cNvSpPr/>
          <p:nvPr/>
        </p:nvSpPr>
        <p:spPr>
          <a:xfrm>
            <a:off x="731520" y="4800600"/>
            <a:ext cx="10698480" cy="1691640"/>
          </a:xfrm>
          <a:prstGeom prst="roundRect">
            <a:avLst/>
          </a:prstGeom>
          <a:solidFill>
            <a:srgbClr val="F3F0EA"/>
          </a:solidFill>
          <a:ln w="12700">
            <a:solidFill>
              <a:srgbClr val="C35A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4910328"/>
            <a:ext cx="10332719" cy="320040"/>
          </a:xfrm>
          <a:prstGeom prst="rect">
            <a:avLst/>
          </a:prstGeom>
          <a:noFill/>
        </p:spPr>
        <p:txBody>
          <a:bodyPr wrap="square" lIns="0" tIns="0" rIns="0" bIns="0">
            <a:spAutoFit/>
          </a:bodyPr>
          <a:lstStyle/>
          <a:p>
            <a:pPr>
              <a:defRPr sz="950" b="1">
                <a:solidFill>
                  <a:srgbClr val="0F1E2E"/>
                </a:solidFill>
                <a:latin typeface="Arial"/>
              </a:defRPr>
            </a:pPr>
            <a:r>
              <a:t>KẾT LUẬN CHUYỂN DỊCH KIẾN TRÚC</a:t>
            </a:r>
          </a:p>
        </p:txBody>
      </p:sp>
      <p:sp>
        <p:nvSpPr>
          <p:cNvPr id="13" name="TextBox 12"/>
          <p:cNvSpPr txBox="1"/>
          <p:nvPr/>
        </p:nvSpPr>
        <p:spPr>
          <a:xfrm>
            <a:off x="914400" y="5120640"/>
            <a:ext cx="10332720" cy="1280160"/>
          </a:xfrm>
          <a:prstGeom prst="rect">
            <a:avLst/>
          </a:prstGeom>
          <a:noFill/>
        </p:spPr>
        <p:txBody>
          <a:bodyPr wrap="square" lIns="0" tIns="0" rIns="0" bIns="0">
            <a:spAutoFit/>
          </a:bodyPr>
          <a:lstStyle/>
          <a:p>
            <a:pPr>
              <a:defRPr sz="950">
                <a:solidFill>
                  <a:srgbClr val="1F2421"/>
                </a:solidFill>
                <a:latin typeface="Calibri"/>
              </a:defRPr>
            </a:pPr>
            <a:r>
              <a:t>1 camera không thể quan sát toàn bãi và chịu thua trước che khuất. Sử dụng nhiều camera liên kết (demo 2 camera) là yêu cầu bắt buộc để đảm bảo độ chính xác tracking và trạng thái ô đỗ.</a:t>
            </a:r>
          </a:p>
          <a:p>
            <a:pPr>
              <a:spcBef>
                <a:spcPts val="400"/>
              </a:spcBef>
              <a:defRPr sz="850" b="1">
                <a:solidFill>
                  <a:srgbClr val="556B2F"/>
                </a:solidFill>
                <a:latin typeface="Arial"/>
              </a:defRPr>
            </a:pPr>
            <a:r>
              <a:t>Ý TƯỞNG CỐT LÕI: GPS / Định vị vệ tinh | VO / SLAM trên xe | YOLO-Centric thuần túy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8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728655" cy="1051560"/>
          </a:xfrm>
          <a:prstGeom prst="rect">
            <a:avLst/>
          </a:prstGeom>
          <a:noFill/>
        </p:spPr>
        <p:txBody>
          <a:bodyPr wrap="square" lIns="0" tIns="0" rIns="0" bIns="0">
            <a:spAutoFit/>
          </a:bodyPr>
          <a:lstStyle/>
          <a:p>
            <a:pPr>
              <a:defRPr sz="950" b="1">
                <a:solidFill>
                  <a:srgbClr val="C35A38"/>
                </a:solidFill>
                <a:latin typeface="Arial"/>
              </a:defRPr>
            </a:pPr>
            <a:r>
              <a:t>BÁO CÁO NGHIÊN CỨU KHOA HỌC TECHGAR  |  KIẾN TRÚC HỆ THỐNG  |  SLIDE 03/15</a:t>
            </a:r>
          </a:p>
          <a:p>
            <a:pPr>
              <a:spcBef>
                <a:spcPts val="200"/>
              </a:spcBef>
              <a:defRPr sz="2100" b="1">
                <a:solidFill>
                  <a:srgbClr val="0F1E2E"/>
                </a:solidFill>
                <a:latin typeface="Georgia"/>
              </a:defRPr>
            </a:pPr>
            <a:r>
              <a:t>Kiến Trúc Tổng Thể: Hình Dung &amp; Quy Trình Giải Quyết Từng Bước</a:t>
            </a:r>
          </a:p>
          <a:p>
            <a:pPr>
              <a:spcBef>
                <a:spcPts val="100"/>
              </a:spcBef>
              <a:defRPr sz="1050" i="1">
                <a:solidFill>
                  <a:srgbClr val="78736E"/>
                </a:solidFill>
                <a:latin typeface="Calibri"/>
              </a:defRPr>
            </a:pPr>
            <a:r>
              <a:t>Chuỗi pipeline 8 mắt xích xử lý từ frame thô đến giao diện Web Dashboard thời gian thực</a:t>
            </a:r>
          </a:p>
        </p:txBody>
      </p:sp>
      <p:sp>
        <p:nvSpPr>
          <p:cNvPr id="4" name="Rounded Rectangle 3"/>
          <p:cNvSpPr/>
          <p:nvPr/>
        </p:nvSpPr>
        <p:spPr>
          <a:xfrm>
            <a:off x="731520" y="1463040"/>
            <a:ext cx="5212080" cy="3200400"/>
          </a:xfrm>
          <a:prstGeom prst="roundRect">
            <a:avLst/>
          </a:prstGeom>
          <a:solidFill>
            <a:srgbClr val="FFFFFF"/>
          </a:solidFill>
          <a:ln w="12700">
            <a:solidFill>
              <a:srgbClr val="E2DD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572768"/>
            <a:ext cx="4846320" cy="320040"/>
          </a:xfrm>
          <a:prstGeom prst="rect">
            <a:avLst/>
          </a:prstGeom>
          <a:noFill/>
        </p:spPr>
        <p:txBody>
          <a:bodyPr wrap="square" lIns="0" tIns="0" rIns="0" bIns="0">
            <a:spAutoFit/>
          </a:bodyPr>
          <a:lstStyle/>
          <a:p>
            <a:pPr>
              <a:defRPr sz="950" b="1">
                <a:solidFill>
                  <a:srgbClr val="0F1E2E"/>
                </a:solidFill>
                <a:latin typeface="Arial"/>
              </a:defRPr>
            </a:pPr>
            <a:r>
              <a:t>QUY TRÌNH 8 BƯỚC XỬ LÝ TINH GỌN</a:t>
            </a:r>
          </a:p>
        </p:txBody>
      </p:sp>
      <p:sp>
        <p:nvSpPr>
          <p:cNvPr id="6" name="TextBox 5"/>
          <p:cNvSpPr txBox="1"/>
          <p:nvPr/>
        </p:nvSpPr>
        <p:spPr>
          <a:xfrm>
            <a:off x="914400" y="1874519"/>
            <a:ext cx="4846320" cy="2651760"/>
          </a:xfrm>
          <a:prstGeom prst="rect">
            <a:avLst/>
          </a:prstGeom>
          <a:noFill/>
        </p:spPr>
        <p:txBody>
          <a:bodyPr wrap="square" lIns="0" tIns="0" rIns="0" bIns="0">
            <a:spAutoFit/>
          </a:bodyPr>
          <a:lstStyle/>
          <a:p>
            <a:pPr>
              <a:defRPr sz="1000">
                <a:solidFill>
                  <a:srgbClr val="1F2421"/>
                </a:solidFill>
                <a:latin typeface="Calibri"/>
              </a:defRPr>
            </a:pPr>
            <a:r>
              <a:t>• 1. Đồng bộ luồng (Dual Ingestion): Thu nhận 2 camera song song, khống chế lệch timestamp Skew &lt;= 120ms.</a:t>
            </a:r>
          </a:p>
          <a:p>
            <a:pPr>
              <a:spcBef>
                <a:spcPts val="600"/>
              </a:spcBef>
              <a:defRPr sz="1000">
                <a:solidFill>
                  <a:srgbClr val="1F2421"/>
                </a:solidFill>
                <a:latin typeface="Calibri"/>
              </a:defRPr>
            </a:pPr>
            <a:r>
              <a:t>• 2. Lọc ROI đa giác (Polygon ROI): Cắt bỏ tường chắn, bàn tay kỹ thuật viên, xác lập ranh giới bãi xe.</a:t>
            </a:r>
          </a:p>
          <a:p>
            <a:pPr>
              <a:spcBef>
                <a:spcPts val="600"/>
              </a:spcBef>
              <a:defRPr sz="1000">
                <a:solidFill>
                  <a:srgbClr val="1F2421"/>
                </a:solidFill>
                <a:latin typeface="Calibri"/>
              </a:defRPr>
            </a:pPr>
            <a:r>
              <a:t>• 3. Bắt chuyển động (MOG2 + FrameDiff): Khai thác nền tĩnh, lọc bóng râm và bù sáng thích ứng.</a:t>
            </a:r>
          </a:p>
          <a:p>
            <a:pPr>
              <a:spcBef>
                <a:spcPts val="600"/>
              </a:spcBef>
              <a:defRPr sz="1000">
                <a:solidFill>
                  <a:srgbClr val="1F2421"/>
                </a:solidFill>
                <a:latin typeface="Calibri"/>
              </a:defRPr>
            </a:pPr>
            <a:r>
              <a:t>• 4. Theo dõi cục bộ (Local Tracking): Kalman Filter dự đoán dt + LAPJV gán vết 1-1 + SSD cứu xe dừng.</a:t>
            </a:r>
          </a:p>
        </p:txBody>
      </p:sp>
      <p:sp>
        <p:nvSpPr>
          <p:cNvPr id="7" name="Rounded Rectangle 6"/>
          <p:cNvSpPr/>
          <p:nvPr/>
        </p:nvSpPr>
        <p:spPr>
          <a:xfrm>
            <a:off x="6126480" y="1463040"/>
            <a:ext cx="5303520" cy="3200400"/>
          </a:xfrm>
          <a:prstGeom prst="roundRect">
            <a:avLst/>
          </a:prstGeom>
          <a:solidFill>
            <a:srgbClr val="FFFFFF"/>
          </a:solidFill>
          <a:ln w="12700">
            <a:solidFill>
              <a:srgbClr val="E2DD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09360" y="1572768"/>
            <a:ext cx="4937759" cy="320040"/>
          </a:xfrm>
          <a:prstGeom prst="rect">
            <a:avLst/>
          </a:prstGeom>
          <a:noFill/>
        </p:spPr>
        <p:txBody>
          <a:bodyPr wrap="square" lIns="0" tIns="0" rIns="0" bIns="0">
            <a:spAutoFit/>
          </a:bodyPr>
          <a:lstStyle/>
          <a:p>
            <a:pPr>
              <a:defRPr sz="950" b="1">
                <a:solidFill>
                  <a:srgbClr val="0F1E2E"/>
                </a:solidFill>
                <a:latin typeface="Arial"/>
              </a:defRPr>
            </a:pPr>
            <a:r>
              <a:t>CÁC BƯỚC CHUYỂN GIAO &amp; QUẢN LÝ Ô ĐỖ</a:t>
            </a:r>
          </a:p>
        </p:txBody>
      </p:sp>
      <p:pic>
        <p:nvPicPr>
          <p:cNvPr id="9" name="Picture 8" descr="lane_graph_spots.png"/>
          <p:cNvPicPr>
            <a:picLocks noChangeAspect="1"/>
          </p:cNvPicPr>
          <p:nvPr/>
        </p:nvPicPr>
        <p:blipFill>
          <a:blip r:embed="rId2"/>
          <a:stretch>
            <a:fillRect/>
          </a:stretch>
        </p:blipFill>
        <p:spPr>
          <a:xfrm>
            <a:off x="6309360" y="1874519"/>
            <a:ext cx="4937760" cy="2331720"/>
          </a:xfrm>
          <a:prstGeom prst="rect">
            <a:avLst/>
          </a:prstGeom>
        </p:spPr>
      </p:pic>
      <p:sp>
        <p:nvSpPr>
          <p:cNvPr id="10" name="TextBox 9"/>
          <p:cNvSpPr txBox="1"/>
          <p:nvPr/>
        </p:nvSpPr>
        <p:spPr>
          <a:xfrm>
            <a:off x="6309360" y="4279392"/>
            <a:ext cx="4937760" cy="320040"/>
          </a:xfrm>
          <a:prstGeom prst="rect">
            <a:avLst/>
          </a:prstGeom>
          <a:noFill/>
        </p:spPr>
        <p:txBody>
          <a:bodyPr wrap="square" lIns="0" tIns="0" rIns="0" bIns="0">
            <a:spAutoFit/>
          </a:bodyPr>
          <a:lstStyle/>
          <a:p>
            <a:pPr>
              <a:defRPr sz="850" i="1">
                <a:solidFill>
                  <a:srgbClr val="78736E"/>
                </a:solidFill>
                <a:latin typeface="Calibri"/>
              </a:defRPr>
            </a:pPr>
            <a:r>
              <a:t>Sơ đồ mặt bằng: Đồ thị làn đường và các vị trí ô đỗ P054–P057 trong không gian nghiên cứu</a:t>
            </a:r>
          </a:p>
        </p:txBody>
      </p:sp>
      <p:sp>
        <p:nvSpPr>
          <p:cNvPr id="11" name="Rounded Rectangle 10"/>
          <p:cNvSpPr/>
          <p:nvPr/>
        </p:nvSpPr>
        <p:spPr>
          <a:xfrm>
            <a:off x="731520" y="4800600"/>
            <a:ext cx="10698480" cy="1691640"/>
          </a:xfrm>
          <a:prstGeom prst="roundRect">
            <a:avLst/>
          </a:prstGeom>
          <a:solidFill>
            <a:srgbClr val="F3F0EA"/>
          </a:solidFill>
          <a:ln w="12700">
            <a:solidFill>
              <a:srgbClr val="C35A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4910328"/>
            <a:ext cx="10332719" cy="320040"/>
          </a:xfrm>
          <a:prstGeom prst="rect">
            <a:avLst/>
          </a:prstGeom>
          <a:noFill/>
        </p:spPr>
        <p:txBody>
          <a:bodyPr wrap="square" lIns="0" tIns="0" rIns="0" bIns="0">
            <a:spAutoFit/>
          </a:bodyPr>
          <a:lstStyle/>
          <a:p>
            <a:pPr>
              <a:defRPr sz="950" b="1">
                <a:solidFill>
                  <a:srgbClr val="0F1E2E"/>
                </a:solidFill>
                <a:latin typeface="Arial"/>
              </a:defRPr>
            </a:pPr>
            <a:r>
              <a:t>NGUYÊN TẮC THIẾT KẾ MODULE HỌC THUẬT</a:t>
            </a:r>
          </a:p>
        </p:txBody>
      </p:sp>
      <p:sp>
        <p:nvSpPr>
          <p:cNvPr id="13" name="TextBox 12"/>
          <p:cNvSpPr txBox="1"/>
          <p:nvPr/>
        </p:nvSpPr>
        <p:spPr>
          <a:xfrm>
            <a:off x="914400" y="5120640"/>
            <a:ext cx="10332720" cy="1280160"/>
          </a:xfrm>
          <a:prstGeom prst="rect">
            <a:avLst/>
          </a:prstGeom>
          <a:noFill/>
        </p:spPr>
        <p:txBody>
          <a:bodyPr wrap="square" lIns="0" tIns="0" rIns="0" bIns="0">
            <a:spAutoFit/>
          </a:bodyPr>
          <a:lstStyle/>
          <a:p>
            <a:pPr>
              <a:defRPr sz="950">
                <a:solidFill>
                  <a:srgbClr val="1F2421"/>
                </a:solidFill>
                <a:latin typeface="Calibri"/>
              </a:defRPr>
            </a:pPr>
            <a:r>
              <a:t>Mỗi bước đều có ranh giới kiểm soát lỗi rõ ràng: Lỗi hình học chặn tại Homography, lỗi sai corridor chặn tại Topology, lỗi chớp ô chặn tại Arrival/Departure Token.</a:t>
            </a:r>
          </a:p>
          <a:p>
            <a:pPr>
              <a:spcBef>
                <a:spcPts val="400"/>
              </a:spcBef>
              <a:defRPr sz="850" b="1">
                <a:solidFill>
                  <a:srgbClr val="556B2F"/>
                </a:solidFill>
                <a:latin typeface="Arial"/>
              </a:defRPr>
            </a:pPr>
            <a:r>
              <a:t>Ý TƯỞNG CỐT LÕI: 5. Hiệu chuẩn mặt sàn (Homography cm) | 6. Chuyển giao Topology (Topology Handoff) | 7. Hợp nhất Canonical GID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8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728655" cy="1051560"/>
          </a:xfrm>
          <a:prstGeom prst="rect">
            <a:avLst/>
          </a:prstGeom>
          <a:noFill/>
        </p:spPr>
        <p:txBody>
          <a:bodyPr wrap="square" lIns="0" tIns="0" rIns="0" bIns="0">
            <a:spAutoFit/>
          </a:bodyPr>
          <a:lstStyle/>
          <a:p>
            <a:pPr>
              <a:defRPr sz="950" b="1">
                <a:solidFill>
                  <a:srgbClr val="C35A38"/>
                </a:solidFill>
                <a:latin typeface="Arial"/>
              </a:defRPr>
            </a:pPr>
            <a:r>
              <a:t>BÁO CÁO NGHIÊN CỨU KHOA HỌC TECHGAR  |  HÌNH HỌC CAMERA  |  SLIDE 04/15</a:t>
            </a:r>
          </a:p>
          <a:p>
            <a:pPr>
              <a:spcBef>
                <a:spcPts val="200"/>
              </a:spcBef>
              <a:defRPr sz="2100" b="1">
                <a:solidFill>
                  <a:srgbClr val="0F1E2E"/>
                </a:solidFill>
                <a:latin typeface="Georgia"/>
              </a:defRPr>
            </a:pPr>
            <a:r>
              <a:t>Bài Toán Hình Học Camera, Xử Lý Góc Chéo &amp; Homography Mặt Sàn</a:t>
            </a:r>
          </a:p>
          <a:p>
            <a:pPr>
              <a:spcBef>
                <a:spcPts val="100"/>
              </a:spcBef>
              <a:defRPr sz="1050" i="1">
                <a:solidFill>
                  <a:srgbClr val="78736E"/>
                </a:solidFill>
                <a:latin typeface="Calibri"/>
              </a:defRPr>
            </a:pPr>
            <a:r>
              <a:t>Khớp chuẩn xác mặt sàn bằng 4 điểm đồng phẳng để đo centimet thực địa, loại bỏ ảo tưởng thị sai 3D</a:t>
            </a:r>
          </a:p>
        </p:txBody>
      </p:sp>
      <p:sp>
        <p:nvSpPr>
          <p:cNvPr id="4" name="Rounded Rectangle 3"/>
          <p:cNvSpPr/>
          <p:nvPr/>
        </p:nvSpPr>
        <p:spPr>
          <a:xfrm>
            <a:off x="731520" y="1463040"/>
            <a:ext cx="5212080" cy="3200400"/>
          </a:xfrm>
          <a:prstGeom prst="roundRect">
            <a:avLst/>
          </a:prstGeom>
          <a:solidFill>
            <a:srgbClr val="FFFFFF"/>
          </a:solidFill>
          <a:ln w="12700">
            <a:solidFill>
              <a:srgbClr val="E2DD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572768"/>
            <a:ext cx="4846320" cy="320040"/>
          </a:xfrm>
          <a:prstGeom prst="rect">
            <a:avLst/>
          </a:prstGeom>
          <a:noFill/>
        </p:spPr>
        <p:txBody>
          <a:bodyPr wrap="square" lIns="0" tIns="0" rIns="0" bIns="0">
            <a:spAutoFit/>
          </a:bodyPr>
          <a:lstStyle/>
          <a:p>
            <a:pPr>
              <a:defRPr sz="950" b="1">
                <a:solidFill>
                  <a:srgbClr val="0F1E2E"/>
                </a:solidFill>
                <a:latin typeface="Arial"/>
              </a:defRPr>
            </a:pPr>
            <a:r>
              <a:t>BẢN CHẤT 3D PARALLAX &amp; THỬ THÁCH GÓC CHÉO</a:t>
            </a:r>
          </a:p>
        </p:txBody>
      </p:sp>
      <p:sp>
        <p:nvSpPr>
          <p:cNvPr id="6" name="TextBox 5"/>
          <p:cNvSpPr txBox="1"/>
          <p:nvPr/>
        </p:nvSpPr>
        <p:spPr>
          <a:xfrm>
            <a:off x="914400" y="1874519"/>
            <a:ext cx="4846320" cy="2651760"/>
          </a:xfrm>
          <a:prstGeom prst="rect">
            <a:avLst/>
          </a:prstGeom>
          <a:noFill/>
        </p:spPr>
        <p:txBody>
          <a:bodyPr wrap="square" lIns="0" tIns="0" rIns="0" bIns="0">
            <a:spAutoFit/>
          </a:bodyPr>
          <a:lstStyle/>
          <a:p>
            <a:pPr>
              <a:defRPr sz="1000">
                <a:solidFill>
                  <a:srgbClr val="1F2421"/>
                </a:solidFill>
                <a:latin typeface="Calibri"/>
              </a:defRPr>
            </a:pPr>
            <a:r>
              <a:t>• Hiện tượng thị sai (Parallax Fallacy): Xe là vật thể khối 3D; mái xe nhìn từ 2 góc máy nghiêng không thể trùng khít bằng một phép chiếu phẳng 2D.</a:t>
            </a:r>
          </a:p>
          <a:p>
            <a:pPr>
              <a:spcBef>
                <a:spcPts val="600"/>
              </a:spcBef>
              <a:defRPr sz="1000">
                <a:solidFill>
                  <a:srgbClr val="1F2421"/>
                </a:solidFill>
                <a:latin typeface="Calibri"/>
              </a:defRPr>
            </a:pPr>
            <a:r>
              <a:t>• Quy tắc neo mặt sàn (Ground Anchor): Điểm duy nhất đồng phẳng tuyệt đối giữa 2 camera là mặt tiếp xúc bánh xe với sàn bãi đỗ.</a:t>
            </a:r>
          </a:p>
          <a:p>
            <a:pPr>
              <a:spcBef>
                <a:spcPts val="600"/>
              </a:spcBef>
              <a:defRPr sz="1000">
                <a:solidFill>
                  <a:srgbClr val="1F2421"/>
                </a:solidFill>
                <a:latin typeface="Calibri"/>
              </a:defRPr>
            </a:pPr>
            <a:r>
              <a:t>• Bảo vệ tính đồng phẳng: Chỉ calibrate trên mặt phẳng sàn; tuyệt đối không lấy điểm trên nóc xe hoặc vật thể nổi.</a:t>
            </a:r>
          </a:p>
        </p:txBody>
      </p:sp>
      <p:sp>
        <p:nvSpPr>
          <p:cNvPr id="7" name="Rounded Rectangle 6"/>
          <p:cNvSpPr/>
          <p:nvPr/>
        </p:nvSpPr>
        <p:spPr>
          <a:xfrm>
            <a:off x="6126480" y="1463040"/>
            <a:ext cx="5303520" cy="3200400"/>
          </a:xfrm>
          <a:prstGeom prst="roundRect">
            <a:avLst/>
          </a:prstGeom>
          <a:solidFill>
            <a:srgbClr val="FFFFFF"/>
          </a:solidFill>
          <a:ln w="12700">
            <a:solidFill>
              <a:srgbClr val="E2DD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09360" y="1572768"/>
            <a:ext cx="4937759" cy="320040"/>
          </a:xfrm>
          <a:prstGeom prst="rect">
            <a:avLst/>
          </a:prstGeom>
          <a:noFill/>
        </p:spPr>
        <p:txBody>
          <a:bodyPr wrap="square" lIns="0" tIns="0" rIns="0" bIns="0">
            <a:spAutoFit/>
          </a:bodyPr>
          <a:lstStyle/>
          <a:p>
            <a:pPr>
              <a:defRPr sz="950" b="1">
                <a:solidFill>
                  <a:srgbClr val="0F1E2E"/>
                </a:solidFill>
                <a:latin typeface="Arial"/>
              </a:defRPr>
            </a:pPr>
            <a:r>
              <a:t>PHƯƠNG PHÁP 4 ĐIỂM ĐỒNG PHẲNG A-B-C-D &amp; ĐỘ ĐO THỰC TẾ</a:t>
            </a:r>
          </a:p>
        </p:txBody>
      </p:sp>
      <p:pic>
        <p:nvPicPr>
          <p:cNvPr id="9" name="Picture 8" descr="calib_cam1_marked.png"/>
          <p:cNvPicPr>
            <a:picLocks noChangeAspect="1"/>
          </p:cNvPicPr>
          <p:nvPr/>
        </p:nvPicPr>
        <p:blipFill>
          <a:blip r:embed="rId2"/>
          <a:stretch>
            <a:fillRect/>
          </a:stretch>
        </p:blipFill>
        <p:spPr>
          <a:xfrm>
            <a:off x="6309360" y="1874519"/>
            <a:ext cx="4937760" cy="2331720"/>
          </a:xfrm>
          <a:prstGeom prst="rect">
            <a:avLst/>
          </a:prstGeom>
        </p:spPr>
      </p:pic>
      <p:sp>
        <p:nvSpPr>
          <p:cNvPr id="10" name="TextBox 9"/>
          <p:cNvSpPr txBox="1"/>
          <p:nvPr/>
        </p:nvSpPr>
        <p:spPr>
          <a:xfrm>
            <a:off x="6309360" y="4279392"/>
            <a:ext cx="4937760" cy="320040"/>
          </a:xfrm>
          <a:prstGeom prst="rect">
            <a:avLst/>
          </a:prstGeom>
          <a:noFill/>
        </p:spPr>
        <p:txBody>
          <a:bodyPr wrap="square" lIns="0" tIns="0" rIns="0" bIns="0">
            <a:spAutoFit/>
          </a:bodyPr>
          <a:lstStyle/>
          <a:p>
            <a:pPr>
              <a:defRPr sz="850" i="1">
                <a:solidFill>
                  <a:srgbClr val="78736E"/>
                </a:solidFill>
                <a:latin typeface="Calibri"/>
              </a:defRPr>
            </a:pPr>
            <a:r>
              <a:t>Ảnh thực nghiệm: 4 điểm hiệu chuẩn A-B-C-D đồng phẳng trên mặt sàn bãi đỗ thực tế</a:t>
            </a:r>
          </a:p>
        </p:txBody>
      </p:sp>
      <p:sp>
        <p:nvSpPr>
          <p:cNvPr id="11" name="Rounded Rectangle 10"/>
          <p:cNvSpPr/>
          <p:nvPr/>
        </p:nvSpPr>
        <p:spPr>
          <a:xfrm>
            <a:off x="731520" y="4800600"/>
            <a:ext cx="10698480" cy="1691640"/>
          </a:xfrm>
          <a:prstGeom prst="roundRect">
            <a:avLst/>
          </a:prstGeom>
          <a:solidFill>
            <a:srgbClr val="F3F0EA"/>
          </a:solidFill>
          <a:ln w="12700">
            <a:solidFill>
              <a:srgbClr val="C35A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4910328"/>
            <a:ext cx="10332719" cy="320040"/>
          </a:xfrm>
          <a:prstGeom prst="rect">
            <a:avLst/>
          </a:prstGeom>
          <a:noFill/>
        </p:spPr>
        <p:txBody>
          <a:bodyPr wrap="square" lIns="0" tIns="0" rIns="0" bIns="0">
            <a:spAutoFit/>
          </a:bodyPr>
          <a:lstStyle/>
          <a:p>
            <a:pPr>
              <a:defRPr sz="950" b="1">
                <a:solidFill>
                  <a:srgbClr val="0F1E2E"/>
                </a:solidFill>
                <a:latin typeface="Arial"/>
              </a:defRPr>
            </a:pPr>
            <a:r>
              <a:t>KẾT LUẬN HÌNH HỌC HỌC THUẬT</a:t>
            </a:r>
          </a:p>
        </p:txBody>
      </p:sp>
      <p:sp>
        <p:nvSpPr>
          <p:cNvPr id="13" name="TextBox 12"/>
          <p:cNvSpPr txBox="1"/>
          <p:nvPr/>
        </p:nvSpPr>
        <p:spPr>
          <a:xfrm>
            <a:off x="914400" y="5120640"/>
            <a:ext cx="10332720" cy="1280160"/>
          </a:xfrm>
          <a:prstGeom prst="rect">
            <a:avLst/>
          </a:prstGeom>
          <a:noFill/>
        </p:spPr>
        <p:txBody>
          <a:bodyPr wrap="square" lIns="0" tIns="0" rIns="0" bIns="0">
            <a:spAutoFit/>
          </a:bodyPr>
          <a:lstStyle/>
          <a:p>
            <a:pPr>
              <a:defRPr sz="950">
                <a:solidFill>
                  <a:srgbClr val="1F2421"/>
                </a:solidFill>
                <a:latin typeface="Calibri"/>
              </a:defRPr>
            </a:pPr>
            <a:r>
              <a:t>TechGAR không cố ghép kín bóng nóc xe. Mục tiêu hình học duy nhất là trùng khớp mặt tiếp xúc bánh xe và vạch sơn ô đỗ.</a:t>
            </a:r>
          </a:p>
          <a:p>
            <a:pPr>
              <a:spcBef>
                <a:spcPts val="400"/>
              </a:spcBef>
              <a:defRPr sz="850" b="1">
                <a:solidFill>
                  <a:srgbClr val="556B2F"/>
                </a:solidFill>
                <a:latin typeface="Arial"/>
              </a:defRPr>
            </a:pPr>
            <a:r>
              <a:t>Ý TƯỞNG CỐT LÕI: Chọn hình chữ nhật thực tế | Thiết lập hệ tọa độ Centimet (World cm) | Số liệu thực nghiệm (Session 2808_3, 945 cặp seam)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8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728655" cy="1051560"/>
          </a:xfrm>
          <a:prstGeom prst="rect">
            <a:avLst/>
          </a:prstGeom>
          <a:noFill/>
        </p:spPr>
        <p:txBody>
          <a:bodyPr wrap="square" lIns="0" tIns="0" rIns="0" bIns="0">
            <a:spAutoFit/>
          </a:bodyPr>
          <a:lstStyle/>
          <a:p>
            <a:pPr>
              <a:defRPr sz="950" b="1">
                <a:solidFill>
                  <a:srgbClr val="C35A38"/>
                </a:solidFill>
                <a:latin typeface="Arial"/>
              </a:defRPr>
            </a:pPr>
            <a:r>
              <a:t>BÁO CÁO NGHIÊN CỨU KHOA HỌC TECHGAR  |  ĐỒNG BỘ ĐA LUỒNG  |  SLIDE 05/15</a:t>
            </a:r>
          </a:p>
          <a:p>
            <a:pPr>
              <a:spcBef>
                <a:spcPts val="200"/>
              </a:spcBef>
              <a:defRPr sz="2100" b="1">
                <a:solidFill>
                  <a:srgbClr val="0F1E2E"/>
                </a:solidFill>
                <a:latin typeface="Georgia"/>
              </a:defRPr>
            </a:pPr>
            <a:r>
              <a:t>Trình Bày Song Song 2 Camera &amp; Khống Chế Skew Thời Gian Thực</a:t>
            </a:r>
          </a:p>
          <a:p>
            <a:pPr>
              <a:spcBef>
                <a:spcPts val="100"/>
              </a:spcBef>
              <a:defRPr sz="1050" i="1">
                <a:solidFill>
                  <a:srgbClr val="78736E"/>
                </a:solidFill>
                <a:latin typeface="Calibri"/>
              </a:defRPr>
            </a:pPr>
            <a:r>
              <a:t>Xử lý song song 2 làn bơi thời gian độc lập và cô lập vùng quan sát bằng đa giác ROI</a:t>
            </a:r>
          </a:p>
        </p:txBody>
      </p:sp>
      <p:sp>
        <p:nvSpPr>
          <p:cNvPr id="4" name="Rounded Rectangle 3"/>
          <p:cNvSpPr/>
          <p:nvPr/>
        </p:nvSpPr>
        <p:spPr>
          <a:xfrm>
            <a:off x="731520" y="1463040"/>
            <a:ext cx="5212080" cy="3200400"/>
          </a:xfrm>
          <a:prstGeom prst="roundRect">
            <a:avLst/>
          </a:prstGeom>
          <a:solidFill>
            <a:srgbClr val="FFFFFF"/>
          </a:solidFill>
          <a:ln w="12700">
            <a:solidFill>
              <a:srgbClr val="E2DD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572768"/>
            <a:ext cx="4846320" cy="320040"/>
          </a:xfrm>
          <a:prstGeom prst="rect">
            <a:avLst/>
          </a:prstGeom>
          <a:noFill/>
        </p:spPr>
        <p:txBody>
          <a:bodyPr wrap="square" lIns="0" tIns="0" rIns="0" bIns="0">
            <a:spAutoFit/>
          </a:bodyPr>
          <a:lstStyle/>
          <a:p>
            <a:pPr>
              <a:defRPr sz="950" b="1">
                <a:solidFill>
                  <a:srgbClr val="0F1E2E"/>
                </a:solidFill>
                <a:latin typeface="Arial"/>
              </a:defRPr>
            </a:pPr>
            <a:r>
              <a:t>KỶ LUẬT ĐỒNG BỘ THỜI GIAN (TIMESTAMP SKEW CORRIDOR)</a:t>
            </a:r>
          </a:p>
        </p:txBody>
      </p:sp>
      <p:sp>
        <p:nvSpPr>
          <p:cNvPr id="6" name="TextBox 5"/>
          <p:cNvSpPr txBox="1"/>
          <p:nvPr/>
        </p:nvSpPr>
        <p:spPr>
          <a:xfrm>
            <a:off x="914400" y="1874519"/>
            <a:ext cx="4846320" cy="2651760"/>
          </a:xfrm>
          <a:prstGeom prst="rect">
            <a:avLst/>
          </a:prstGeom>
          <a:noFill/>
        </p:spPr>
        <p:txBody>
          <a:bodyPr wrap="square" lIns="0" tIns="0" rIns="0" bIns="0">
            <a:spAutoFit/>
          </a:bodyPr>
          <a:lstStyle/>
          <a:p>
            <a:pPr>
              <a:defRPr sz="1000">
                <a:solidFill>
                  <a:srgbClr val="1F2421"/>
                </a:solidFill>
                <a:latin typeface="Calibri"/>
              </a:defRPr>
            </a:pPr>
            <a:r>
              <a:t>• Tại sao phải khống chế Skew &lt;= 120ms?: Xe chạy trong bãi ở tốc độ 15 km/h (~4.16 m/s); nếu 2 camera lệch nhau 200ms thì xe đã đi được gần 1 mét!</a:t>
            </a:r>
          </a:p>
          <a:p>
            <a:pPr>
              <a:spcBef>
                <a:spcPts val="600"/>
              </a:spcBef>
              <a:defRPr sz="1000">
                <a:solidFill>
                  <a:srgbClr val="1F2421"/>
                </a:solidFill>
                <a:latin typeface="Calibri"/>
              </a:defRPr>
            </a:pPr>
            <a:r>
              <a:t>• Cơ chế bắt kịp (Catch-up buffer): Khống chế hành lang skew tối đa 120ms; tự động bù tối đa 3 frame khi mạng trễ nhẹ.</a:t>
            </a:r>
          </a:p>
          <a:p>
            <a:pPr>
              <a:spcBef>
                <a:spcPts val="600"/>
              </a:spcBef>
              <a:defRPr sz="1000">
                <a:solidFill>
                  <a:srgbClr val="1F2421"/>
                </a:solidFill>
                <a:latin typeface="Calibri"/>
              </a:defRPr>
            </a:pPr>
            <a:r>
              <a:t>• Số đo thực tế (Session 2808_3): Skew phân vị p95 đạt 47 ms, giá trị max đạt 110 ms ➔ Hoàn toàn nằm trong hành lang an toàn.</a:t>
            </a:r>
          </a:p>
        </p:txBody>
      </p:sp>
      <p:sp>
        <p:nvSpPr>
          <p:cNvPr id="7" name="Rounded Rectangle 6"/>
          <p:cNvSpPr/>
          <p:nvPr/>
        </p:nvSpPr>
        <p:spPr>
          <a:xfrm>
            <a:off x="6126480" y="1463040"/>
            <a:ext cx="5303520" cy="3200400"/>
          </a:xfrm>
          <a:prstGeom prst="roundRect">
            <a:avLst/>
          </a:prstGeom>
          <a:solidFill>
            <a:srgbClr val="FFFFFF"/>
          </a:solidFill>
          <a:ln w="12700">
            <a:solidFill>
              <a:srgbClr val="E2DD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09360" y="1572768"/>
            <a:ext cx="4937759" cy="320040"/>
          </a:xfrm>
          <a:prstGeom prst="rect">
            <a:avLst/>
          </a:prstGeom>
          <a:noFill/>
        </p:spPr>
        <p:txBody>
          <a:bodyPr wrap="square" lIns="0" tIns="0" rIns="0" bIns="0">
            <a:spAutoFit/>
          </a:bodyPr>
          <a:lstStyle/>
          <a:p>
            <a:pPr>
              <a:defRPr sz="950" b="1">
                <a:solidFill>
                  <a:srgbClr val="0F1E2E"/>
                </a:solidFill>
                <a:latin typeface="Arial"/>
              </a:defRPr>
            </a:pPr>
            <a:r>
              <a:t>ĐA GIÁC ROI (TRACKING POLYGON) VƯỢT TRỘI BOUNDING BOX CHỮ NHẬT</a:t>
            </a:r>
          </a:p>
        </p:txBody>
      </p:sp>
      <p:pic>
        <p:nvPicPr>
          <p:cNvPr id="9" name="Picture 8" descr="roi_active_map.png"/>
          <p:cNvPicPr>
            <a:picLocks noChangeAspect="1"/>
          </p:cNvPicPr>
          <p:nvPr/>
        </p:nvPicPr>
        <p:blipFill>
          <a:blip r:embed="rId2"/>
          <a:stretch>
            <a:fillRect/>
          </a:stretch>
        </p:blipFill>
        <p:spPr>
          <a:xfrm>
            <a:off x="6309360" y="1874519"/>
            <a:ext cx="4937760" cy="2331720"/>
          </a:xfrm>
          <a:prstGeom prst="rect">
            <a:avLst/>
          </a:prstGeom>
        </p:spPr>
      </p:pic>
      <p:sp>
        <p:nvSpPr>
          <p:cNvPr id="10" name="TextBox 9"/>
          <p:cNvSpPr txBox="1"/>
          <p:nvPr/>
        </p:nvSpPr>
        <p:spPr>
          <a:xfrm>
            <a:off x="6309360" y="4279392"/>
            <a:ext cx="4937760" cy="320040"/>
          </a:xfrm>
          <a:prstGeom prst="rect">
            <a:avLst/>
          </a:prstGeom>
          <a:noFill/>
        </p:spPr>
        <p:txBody>
          <a:bodyPr wrap="square" lIns="0" tIns="0" rIns="0" bIns="0">
            <a:spAutoFit/>
          </a:bodyPr>
          <a:lstStyle/>
          <a:p>
            <a:pPr>
              <a:defRPr sz="850" i="1">
                <a:solidFill>
                  <a:srgbClr val="78736E"/>
                </a:solidFill>
                <a:latin typeface="Calibri"/>
              </a:defRPr>
            </a:pPr>
            <a:r>
              <a:t>Ảnh thực tế: Bản đồ đa giác Tracking ROI ôm trọn footprint bãi xe, loại trừ vùng tường nhiễu</a:t>
            </a:r>
          </a:p>
        </p:txBody>
      </p:sp>
      <p:sp>
        <p:nvSpPr>
          <p:cNvPr id="11" name="Rounded Rectangle 10"/>
          <p:cNvSpPr/>
          <p:nvPr/>
        </p:nvSpPr>
        <p:spPr>
          <a:xfrm>
            <a:off x="731520" y="4800600"/>
            <a:ext cx="10698480" cy="1691640"/>
          </a:xfrm>
          <a:prstGeom prst="roundRect">
            <a:avLst/>
          </a:prstGeom>
          <a:solidFill>
            <a:srgbClr val="F3F0EA"/>
          </a:solidFill>
          <a:ln w="12700">
            <a:solidFill>
              <a:srgbClr val="C35A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4910328"/>
            <a:ext cx="10332719" cy="320040"/>
          </a:xfrm>
          <a:prstGeom prst="rect">
            <a:avLst/>
          </a:prstGeom>
          <a:noFill/>
        </p:spPr>
        <p:txBody>
          <a:bodyPr wrap="square" lIns="0" tIns="0" rIns="0" bIns="0">
            <a:spAutoFit/>
          </a:bodyPr>
          <a:lstStyle/>
          <a:p>
            <a:pPr>
              <a:defRPr sz="950" b="1">
                <a:solidFill>
                  <a:srgbClr val="0F1E2E"/>
                </a:solidFill>
                <a:latin typeface="Arial"/>
              </a:defRPr>
            </a:pPr>
            <a:r>
              <a:t>BẢO VỆ TÍNH ĐỒNG BỘ THỰC NGHIỆM</a:t>
            </a:r>
          </a:p>
        </p:txBody>
      </p:sp>
      <p:sp>
        <p:nvSpPr>
          <p:cNvPr id="13" name="TextBox 12"/>
          <p:cNvSpPr txBox="1"/>
          <p:nvPr/>
        </p:nvSpPr>
        <p:spPr>
          <a:xfrm>
            <a:off x="914400" y="5120640"/>
            <a:ext cx="10332720" cy="1280160"/>
          </a:xfrm>
          <a:prstGeom prst="rect">
            <a:avLst/>
          </a:prstGeom>
          <a:noFill/>
        </p:spPr>
        <p:txBody>
          <a:bodyPr wrap="square" lIns="0" tIns="0" rIns="0" bIns="0">
            <a:spAutoFit/>
          </a:bodyPr>
          <a:lstStyle/>
          <a:p>
            <a:pPr>
              <a:defRPr sz="950">
                <a:solidFill>
                  <a:srgbClr val="1F2421"/>
                </a:solidFill>
                <a:latin typeface="Calibri"/>
              </a:defRPr>
            </a:pPr>
            <a:r>
              <a:t>Hệ thống chỉ ghép cặp quan sát khi timestamp của 2 camera nằm trong hành lang an toàn &lt;= 120ms, đảm bảo tính nhất quán động học.</a:t>
            </a:r>
          </a:p>
          <a:p>
            <a:pPr>
              <a:spcBef>
                <a:spcPts val="400"/>
              </a:spcBef>
              <a:defRPr sz="850" b="1">
                <a:solidFill>
                  <a:srgbClr val="556B2F"/>
                </a:solidFill>
                <a:latin typeface="Arial"/>
              </a:defRPr>
            </a:pPr>
            <a:r>
              <a:t>Ý TƯỞNG CỐT LÕI: Khắc phục góc chết &amp; chân tường | Giảm tải tính toán | Xác lập ranh giới Handoff</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8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728655" cy="1051560"/>
          </a:xfrm>
          <a:prstGeom prst="rect">
            <a:avLst/>
          </a:prstGeom>
          <a:noFill/>
        </p:spPr>
        <p:txBody>
          <a:bodyPr wrap="square" lIns="0" tIns="0" rIns="0" bIns="0">
            <a:spAutoFit/>
          </a:bodyPr>
          <a:lstStyle/>
          <a:p>
            <a:pPr>
              <a:defRPr sz="950" b="1">
                <a:solidFill>
                  <a:srgbClr val="C35A38"/>
                </a:solidFill>
                <a:latin typeface="Arial"/>
              </a:defRPr>
            </a:pPr>
            <a:r>
              <a:t>BÁO CÁO NGHIÊN CỨU KHOA HỌC TECHGAR  |  PHÁT HIỆN CHUYỂN ĐỘNG  |  SLIDE 06/15</a:t>
            </a:r>
          </a:p>
          <a:p>
            <a:pPr>
              <a:spcBef>
                <a:spcPts val="200"/>
              </a:spcBef>
              <a:defRPr sz="2100" b="1">
                <a:solidFill>
                  <a:srgbClr val="0F1E2E"/>
                </a:solidFill>
                <a:latin typeface="Georgia"/>
              </a:defRPr>
            </a:pPr>
            <a:r>
              <a:t>Phát Hiện Chuyển Động Nền Tĩnh &amp; Cơ Chế Phục Hồi Dấu Xe Dừng</a:t>
            </a:r>
          </a:p>
          <a:p>
            <a:pPr>
              <a:spcBef>
                <a:spcPts val="100"/>
              </a:spcBef>
              <a:defRPr sz="1050" i="1">
                <a:solidFill>
                  <a:srgbClr val="78736E"/>
                </a:solidFill>
                <a:latin typeface="Calibri"/>
              </a:defRPr>
            </a:pPr>
            <a:r>
              <a:t>Khai thác nền tĩnh bằng MOG2 + FrameDiff; cứu mất dấu bằng Kalman, LAPJV và SSD Template</a:t>
            </a:r>
          </a:p>
        </p:txBody>
      </p:sp>
      <p:sp>
        <p:nvSpPr>
          <p:cNvPr id="4" name="Rounded Rectangle 3"/>
          <p:cNvSpPr/>
          <p:nvPr/>
        </p:nvSpPr>
        <p:spPr>
          <a:xfrm>
            <a:off x="731520" y="1463040"/>
            <a:ext cx="5212080" cy="3200400"/>
          </a:xfrm>
          <a:prstGeom prst="roundRect">
            <a:avLst/>
          </a:prstGeom>
          <a:solidFill>
            <a:srgbClr val="FFFFFF"/>
          </a:solidFill>
          <a:ln w="12700">
            <a:solidFill>
              <a:srgbClr val="E2DD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572768"/>
            <a:ext cx="4846320" cy="320040"/>
          </a:xfrm>
          <a:prstGeom prst="rect">
            <a:avLst/>
          </a:prstGeom>
          <a:noFill/>
        </p:spPr>
        <p:txBody>
          <a:bodyPr wrap="square" lIns="0" tIns="0" rIns="0" bIns="0">
            <a:spAutoFit/>
          </a:bodyPr>
          <a:lstStyle/>
          <a:p>
            <a:pPr>
              <a:defRPr sz="950" b="1">
                <a:solidFill>
                  <a:srgbClr val="0F1E2E"/>
                </a:solidFill>
                <a:latin typeface="Arial"/>
              </a:defRPr>
            </a:pPr>
            <a:r>
              <a:t>LÕI PHÁT HIỆN NỀN TĨNH (MOTION BASELINE VS YOLO)</a:t>
            </a:r>
          </a:p>
        </p:txBody>
      </p:sp>
      <p:sp>
        <p:nvSpPr>
          <p:cNvPr id="6" name="TextBox 5"/>
          <p:cNvSpPr txBox="1"/>
          <p:nvPr/>
        </p:nvSpPr>
        <p:spPr>
          <a:xfrm>
            <a:off x="914400" y="1874519"/>
            <a:ext cx="4846320" cy="2651760"/>
          </a:xfrm>
          <a:prstGeom prst="rect">
            <a:avLst/>
          </a:prstGeom>
          <a:noFill/>
        </p:spPr>
        <p:txBody>
          <a:bodyPr wrap="square" lIns="0" tIns="0" rIns="0" bIns="0">
            <a:spAutoFit/>
          </a:bodyPr>
          <a:lstStyle/>
          <a:p>
            <a:pPr>
              <a:defRPr sz="1000">
                <a:solidFill>
                  <a:srgbClr val="1F2421"/>
                </a:solidFill>
                <a:latin typeface="Calibri"/>
              </a:defRPr>
            </a:pPr>
            <a:r>
              <a:t>• Tại sao dùng MOG2 + Frame Difference 2 thang?: Camera bãi đỗ là cố định ➔ Background Subtraction học trực tiếp nền tĩnh, chi phí CPU thấp, không cần tập nhãn ban đầu.</a:t>
            </a:r>
          </a:p>
          <a:p>
            <a:pPr>
              <a:spcBef>
                <a:spcPts val="600"/>
              </a:spcBef>
              <a:defRPr sz="1000">
                <a:solidFill>
                  <a:srgbClr val="1F2421"/>
                </a:solidFill>
                <a:latin typeface="Calibri"/>
              </a:defRPr>
            </a:pPr>
            <a:r>
              <a:t>• Hai thang thời gian (0.25s &amp; 0.8s): Bắt trọn cả xe di chuyển nhanh và xe di chuyển chậm/chờ rẽ.</a:t>
            </a:r>
          </a:p>
          <a:p>
            <a:pPr>
              <a:spcBef>
                <a:spcPts val="600"/>
              </a:spcBef>
              <a:defRPr sz="1000">
                <a:solidFill>
                  <a:srgbClr val="1F2421"/>
                </a:solidFill>
                <a:latin typeface="Calibri"/>
              </a:defRPr>
            </a:pPr>
            <a:r>
              <a:t>• Định vị YOLO Detector: YOLO là giải pháp hybrid tiềm năng nhưng cần bộ nhãn góc cao đặc thù; repo giữ motion làm baseline kiểm soát được.</a:t>
            </a:r>
          </a:p>
        </p:txBody>
      </p:sp>
      <p:sp>
        <p:nvSpPr>
          <p:cNvPr id="7" name="Rounded Rectangle 6"/>
          <p:cNvSpPr/>
          <p:nvPr/>
        </p:nvSpPr>
        <p:spPr>
          <a:xfrm>
            <a:off x="6126480" y="1463040"/>
            <a:ext cx="5303520" cy="3200400"/>
          </a:xfrm>
          <a:prstGeom prst="roundRect">
            <a:avLst/>
          </a:prstGeom>
          <a:solidFill>
            <a:srgbClr val="FFFFFF"/>
          </a:solidFill>
          <a:ln w="12700">
            <a:solidFill>
              <a:srgbClr val="E2DD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09360" y="1572768"/>
            <a:ext cx="4937759" cy="320040"/>
          </a:xfrm>
          <a:prstGeom prst="rect">
            <a:avLst/>
          </a:prstGeom>
          <a:noFill/>
        </p:spPr>
        <p:txBody>
          <a:bodyPr wrap="square" lIns="0" tIns="0" rIns="0" bIns="0">
            <a:spAutoFit/>
          </a:bodyPr>
          <a:lstStyle/>
          <a:p>
            <a:pPr>
              <a:defRPr sz="950" b="1">
                <a:solidFill>
                  <a:srgbClr val="0F1E2E"/>
                </a:solidFill>
                <a:latin typeface="Arial"/>
              </a:defRPr>
            </a:pPr>
            <a:r>
              <a:t>CƠ CHẾ CỨU DẤU KHI XE DỪNG (STATIONARY RECOVERY)</a:t>
            </a:r>
          </a:p>
        </p:txBody>
      </p:sp>
      <p:pic>
        <p:nvPicPr>
          <p:cNvPr id="9" name="Picture 8" descr="frame_0278_gid_created_debug_cam2.jpg"/>
          <p:cNvPicPr>
            <a:picLocks noChangeAspect="1"/>
          </p:cNvPicPr>
          <p:nvPr/>
        </p:nvPicPr>
        <p:blipFill>
          <a:blip r:embed="rId2"/>
          <a:stretch>
            <a:fillRect/>
          </a:stretch>
        </p:blipFill>
        <p:spPr>
          <a:xfrm>
            <a:off x="6309360" y="1874519"/>
            <a:ext cx="4937760" cy="2331720"/>
          </a:xfrm>
          <a:prstGeom prst="rect">
            <a:avLst/>
          </a:prstGeom>
        </p:spPr>
      </p:pic>
      <p:sp>
        <p:nvSpPr>
          <p:cNvPr id="10" name="TextBox 9"/>
          <p:cNvSpPr txBox="1"/>
          <p:nvPr/>
        </p:nvSpPr>
        <p:spPr>
          <a:xfrm>
            <a:off x="6309360" y="4279392"/>
            <a:ext cx="4937760" cy="320040"/>
          </a:xfrm>
          <a:prstGeom prst="rect">
            <a:avLst/>
          </a:prstGeom>
          <a:noFill/>
        </p:spPr>
        <p:txBody>
          <a:bodyPr wrap="square" lIns="0" tIns="0" rIns="0" bIns="0">
            <a:spAutoFit/>
          </a:bodyPr>
          <a:lstStyle/>
          <a:p>
            <a:pPr>
              <a:defRPr sz="850" i="1">
                <a:solidFill>
                  <a:srgbClr val="78736E"/>
                </a:solidFill>
                <a:latin typeface="Calibri"/>
              </a:defRPr>
            </a:pPr>
            <a:r>
              <a:t>Ảnh thực nghiệm: Bắt vết MOG2 tại frame 278, duy trì Local ID bằng bộ lọc Kalman</a:t>
            </a:r>
          </a:p>
        </p:txBody>
      </p:sp>
      <p:sp>
        <p:nvSpPr>
          <p:cNvPr id="11" name="Rounded Rectangle 10"/>
          <p:cNvSpPr/>
          <p:nvPr/>
        </p:nvSpPr>
        <p:spPr>
          <a:xfrm>
            <a:off x="731520" y="4800600"/>
            <a:ext cx="10698480" cy="1691640"/>
          </a:xfrm>
          <a:prstGeom prst="roundRect">
            <a:avLst/>
          </a:prstGeom>
          <a:solidFill>
            <a:srgbClr val="F3F0EA"/>
          </a:solidFill>
          <a:ln w="12700">
            <a:solidFill>
              <a:srgbClr val="C35A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4910328"/>
            <a:ext cx="10332719" cy="320040"/>
          </a:xfrm>
          <a:prstGeom prst="rect">
            <a:avLst/>
          </a:prstGeom>
          <a:noFill/>
        </p:spPr>
        <p:txBody>
          <a:bodyPr wrap="square" lIns="0" tIns="0" rIns="0" bIns="0">
            <a:spAutoFit/>
          </a:bodyPr>
          <a:lstStyle/>
          <a:p>
            <a:pPr>
              <a:defRPr sz="950" b="1">
                <a:solidFill>
                  <a:srgbClr val="0F1E2E"/>
                </a:solidFill>
                <a:latin typeface="Arial"/>
              </a:defRPr>
            </a:pPr>
            <a:r>
              <a:t>ĐỘ ĐO HIỆU QUẢ SSD REACQUIRE</a:t>
            </a:r>
          </a:p>
        </p:txBody>
      </p:sp>
      <p:sp>
        <p:nvSpPr>
          <p:cNvPr id="13" name="TextBox 12"/>
          <p:cNvSpPr txBox="1"/>
          <p:nvPr/>
        </p:nvSpPr>
        <p:spPr>
          <a:xfrm>
            <a:off x="914400" y="5120640"/>
            <a:ext cx="10332720" cy="1280160"/>
          </a:xfrm>
          <a:prstGeom prst="rect">
            <a:avLst/>
          </a:prstGeom>
          <a:noFill/>
        </p:spPr>
        <p:txBody>
          <a:bodyPr wrap="square" lIns="0" tIns="0" rIns="0" bIns="0">
            <a:spAutoFit/>
          </a:bodyPr>
          <a:lstStyle/>
          <a:p>
            <a:pPr>
              <a:defRPr sz="950">
                <a:solidFill>
                  <a:srgbClr val="1F2421"/>
                </a:solidFill>
                <a:latin typeface="Calibri"/>
              </a:defRPr>
            </a:pPr>
            <a:r>
              <a:t>Thử nghiệm Replay A/B đo được: SSD Reacquire cứu vết thành công 1.714 lần và từ chối 25 lần sai lệch, bảo vệ tính liên tục của hành trình.</a:t>
            </a:r>
          </a:p>
          <a:p>
            <a:pPr>
              <a:spcBef>
                <a:spcPts val="400"/>
              </a:spcBef>
              <a:defRPr sz="850" b="1">
                <a:solidFill>
                  <a:srgbClr val="556B2F"/>
                </a:solidFill>
                <a:latin typeface="Arial"/>
              </a:defRPr>
            </a:pPr>
            <a:r>
              <a:t>Ý TƯỞNG CỐT LÕI: Vấn đề xe dừng lâu | Cứu cánh Kalman Filter | SSD Template Reacquire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8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728655" cy="1051560"/>
          </a:xfrm>
          <a:prstGeom prst="rect">
            <a:avLst/>
          </a:prstGeom>
          <a:noFill/>
        </p:spPr>
        <p:txBody>
          <a:bodyPr wrap="square" lIns="0" tIns="0" rIns="0" bIns="0">
            <a:spAutoFit/>
          </a:bodyPr>
          <a:lstStyle/>
          <a:p>
            <a:pPr>
              <a:defRPr sz="950" b="1">
                <a:solidFill>
                  <a:srgbClr val="C35A38"/>
                </a:solidFill>
                <a:latin typeface="Arial"/>
              </a:defRPr>
            </a:pPr>
            <a:r>
              <a:t>BÁO CÁO NGHIÊN CỨU KHOA HỌC TECHGAR  |  CROSS-CAMERA TRACKING  |  SLIDE 07/15</a:t>
            </a:r>
          </a:p>
          <a:p>
            <a:pPr>
              <a:spcBef>
                <a:spcPts val="200"/>
              </a:spcBef>
              <a:defRPr sz="2100" b="1">
                <a:solidFill>
                  <a:srgbClr val="0F1E2E"/>
                </a:solidFill>
                <a:latin typeface="Georgia"/>
              </a:defRPr>
            </a:pPr>
            <a:r>
              <a:t>Cơ Chế Cross-Camera: Hợp Nhất Thành Một Canonical Global ID</a:t>
            </a:r>
          </a:p>
          <a:p>
            <a:pPr>
              <a:spcBef>
                <a:spcPts val="100"/>
              </a:spcBef>
              <a:defRPr sz="1050" i="1">
                <a:solidFill>
                  <a:srgbClr val="78736E"/>
                </a:solidFill>
                <a:latin typeface="Calibri"/>
              </a:defRPr>
            </a:pPr>
            <a:r>
              <a:t>Sửa đổi cách trình bày: Không dùng sơ đồ mũi tên tuần tự — Khám phá bản chất không gian tên độc lập</a:t>
            </a:r>
          </a:p>
        </p:txBody>
      </p:sp>
      <p:sp>
        <p:nvSpPr>
          <p:cNvPr id="4" name="Rounded Rectangle 3"/>
          <p:cNvSpPr/>
          <p:nvPr/>
        </p:nvSpPr>
        <p:spPr>
          <a:xfrm>
            <a:off x="731520" y="1463040"/>
            <a:ext cx="5212080" cy="3200400"/>
          </a:xfrm>
          <a:prstGeom prst="roundRect">
            <a:avLst/>
          </a:prstGeom>
          <a:solidFill>
            <a:srgbClr val="FFFFFF"/>
          </a:solidFill>
          <a:ln w="12700">
            <a:solidFill>
              <a:srgbClr val="E2DD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572768"/>
            <a:ext cx="4846320" cy="320040"/>
          </a:xfrm>
          <a:prstGeom prst="rect">
            <a:avLst/>
          </a:prstGeom>
          <a:noFill/>
        </p:spPr>
        <p:txBody>
          <a:bodyPr wrap="square" lIns="0" tIns="0" rIns="0" bIns="0">
            <a:spAutoFit/>
          </a:bodyPr>
          <a:lstStyle/>
          <a:p>
            <a:pPr>
              <a:defRPr sz="950" b="1">
                <a:solidFill>
                  <a:srgbClr val="0F1E2E"/>
                </a:solidFill>
                <a:latin typeface="Arial"/>
              </a:defRPr>
            </a:pPr>
            <a:r>
              <a:t>BẢN CHẤT KHÔNG GIAN TÊN (NAMESPACE) ĐỘC LẬP</a:t>
            </a:r>
          </a:p>
        </p:txBody>
      </p:sp>
      <p:sp>
        <p:nvSpPr>
          <p:cNvPr id="6" name="TextBox 5"/>
          <p:cNvSpPr txBox="1"/>
          <p:nvPr/>
        </p:nvSpPr>
        <p:spPr>
          <a:xfrm>
            <a:off x="914400" y="1874519"/>
            <a:ext cx="4846320" cy="2651760"/>
          </a:xfrm>
          <a:prstGeom prst="rect">
            <a:avLst/>
          </a:prstGeom>
          <a:noFill/>
        </p:spPr>
        <p:txBody>
          <a:bodyPr wrap="square" lIns="0" tIns="0" rIns="0" bIns="0">
            <a:spAutoFit/>
          </a:bodyPr>
          <a:lstStyle/>
          <a:p>
            <a:pPr>
              <a:defRPr sz="1000">
                <a:solidFill>
                  <a:srgbClr val="1F2421"/>
                </a:solidFill>
                <a:latin typeface="Calibri"/>
              </a:defRPr>
            </a:pPr>
            <a:r>
              <a:t>• Sự phân tán của Local ID: Camera 1 gọi xe là L1#7, Camera 2 gọi xe là L2#12 — Đây là 2 hệ quy chiếu hoàn toàn độc lập.</a:t>
            </a:r>
          </a:p>
          <a:p>
            <a:pPr>
              <a:spcBef>
                <a:spcPts val="600"/>
              </a:spcBef>
              <a:defRPr sz="1000">
                <a:solidFill>
                  <a:srgbClr val="1F2421"/>
                </a:solidFill>
                <a:latin typeface="Calibri"/>
              </a:defRPr>
            </a:pPr>
            <a:r>
              <a:t>• Hợp nhất trong vùng Overlap: Khi xe đi vào vùng giao thoa, cả 2 camera đều phát hiện xe; Cross-Camera Manager gán cả hai vào một mã Canonical G#1 duy nhất.</a:t>
            </a:r>
          </a:p>
          <a:p>
            <a:pPr>
              <a:spcBef>
                <a:spcPts val="600"/>
              </a:spcBef>
              <a:defRPr sz="1000">
                <a:solidFill>
                  <a:srgbClr val="1F2421"/>
                </a:solidFill>
                <a:latin typeface="Calibri"/>
              </a:defRPr>
            </a:pPr>
            <a:r>
              <a:t>• Bảo vệ bộ đếm Frontend: Trên màn hình người dùng, số lượng xe luôn giữ nguyên bằng 1; không bao giờ bị đếm thành 2 xe.</a:t>
            </a:r>
          </a:p>
        </p:txBody>
      </p:sp>
      <p:sp>
        <p:nvSpPr>
          <p:cNvPr id="7" name="Rounded Rectangle 6"/>
          <p:cNvSpPr/>
          <p:nvPr/>
        </p:nvSpPr>
        <p:spPr>
          <a:xfrm>
            <a:off x="6126480" y="1463040"/>
            <a:ext cx="5303520" cy="3200400"/>
          </a:xfrm>
          <a:prstGeom prst="roundRect">
            <a:avLst/>
          </a:prstGeom>
          <a:solidFill>
            <a:srgbClr val="FFFFFF"/>
          </a:solidFill>
          <a:ln w="12700">
            <a:solidFill>
              <a:srgbClr val="E2DD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09360" y="1572768"/>
            <a:ext cx="4937759" cy="320040"/>
          </a:xfrm>
          <a:prstGeom prst="rect">
            <a:avLst/>
          </a:prstGeom>
          <a:noFill/>
        </p:spPr>
        <p:txBody>
          <a:bodyPr wrap="square" lIns="0" tIns="0" rIns="0" bIns="0">
            <a:spAutoFit/>
          </a:bodyPr>
          <a:lstStyle/>
          <a:p>
            <a:pPr>
              <a:defRPr sz="950" b="1">
                <a:solidFill>
                  <a:srgbClr val="0F1E2E"/>
                </a:solidFill>
                <a:latin typeface="Arial"/>
              </a:defRPr>
            </a:pPr>
            <a:r>
              <a:t>BỘ BA HÀNG RÀO BẢO VỆ DANH TÍNH</a:t>
            </a:r>
          </a:p>
        </p:txBody>
      </p:sp>
      <p:pic>
        <p:nvPicPr>
          <p:cNvPr id="9" name="Picture 8" descr="frame_0336_handoff_matched_split_debug.jpg"/>
          <p:cNvPicPr>
            <a:picLocks noChangeAspect="1"/>
          </p:cNvPicPr>
          <p:nvPr/>
        </p:nvPicPr>
        <p:blipFill>
          <a:blip r:embed="rId2"/>
          <a:stretch>
            <a:fillRect/>
          </a:stretch>
        </p:blipFill>
        <p:spPr>
          <a:xfrm>
            <a:off x="6309360" y="1874519"/>
            <a:ext cx="4937760" cy="2331720"/>
          </a:xfrm>
          <a:prstGeom prst="rect">
            <a:avLst/>
          </a:prstGeom>
        </p:spPr>
      </p:pic>
      <p:sp>
        <p:nvSpPr>
          <p:cNvPr id="10" name="TextBox 9"/>
          <p:cNvSpPr txBox="1"/>
          <p:nvPr/>
        </p:nvSpPr>
        <p:spPr>
          <a:xfrm>
            <a:off x="6309360" y="4279392"/>
            <a:ext cx="4937760" cy="320040"/>
          </a:xfrm>
          <a:prstGeom prst="rect">
            <a:avLst/>
          </a:prstGeom>
          <a:noFill/>
        </p:spPr>
        <p:txBody>
          <a:bodyPr wrap="square" lIns="0" tIns="0" rIns="0" bIns="0">
            <a:spAutoFit/>
          </a:bodyPr>
          <a:lstStyle/>
          <a:p>
            <a:pPr>
              <a:defRPr sz="850" i="1">
                <a:solidFill>
                  <a:srgbClr val="78736E"/>
                </a:solidFill>
                <a:latin typeface="Calibri"/>
              </a:defRPr>
            </a:pPr>
            <a:r>
              <a:t>Ảnh thực tế: Frame 336 khi xe ở trong overlap, cả Cam 1 và Cam 2 cùng giữ chung mã Canonical G#1</a:t>
            </a:r>
          </a:p>
        </p:txBody>
      </p:sp>
      <p:sp>
        <p:nvSpPr>
          <p:cNvPr id="11" name="Rounded Rectangle 10"/>
          <p:cNvSpPr/>
          <p:nvPr/>
        </p:nvSpPr>
        <p:spPr>
          <a:xfrm>
            <a:off x="731520" y="4800600"/>
            <a:ext cx="10698480" cy="1691640"/>
          </a:xfrm>
          <a:prstGeom prst="roundRect">
            <a:avLst/>
          </a:prstGeom>
          <a:solidFill>
            <a:srgbClr val="F3F0EA"/>
          </a:solidFill>
          <a:ln w="12700">
            <a:solidFill>
              <a:srgbClr val="C35A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4910328"/>
            <a:ext cx="10332719" cy="320040"/>
          </a:xfrm>
          <a:prstGeom prst="rect">
            <a:avLst/>
          </a:prstGeom>
          <a:noFill/>
        </p:spPr>
        <p:txBody>
          <a:bodyPr wrap="square" lIns="0" tIns="0" rIns="0" bIns="0">
            <a:spAutoFit/>
          </a:bodyPr>
          <a:lstStyle/>
          <a:p>
            <a:pPr>
              <a:defRPr sz="950" b="1">
                <a:solidFill>
                  <a:srgbClr val="0F1E2E"/>
                </a:solidFill>
                <a:latin typeface="Arial"/>
              </a:defRPr>
            </a:pPr>
            <a:r>
              <a:t>BẢN CHẤT HỌC THUẬT CỦA CANONICAL GID</a:t>
            </a:r>
          </a:p>
        </p:txBody>
      </p:sp>
      <p:sp>
        <p:nvSpPr>
          <p:cNvPr id="13" name="TextBox 12"/>
          <p:cNvSpPr txBox="1"/>
          <p:nvPr/>
        </p:nvSpPr>
        <p:spPr>
          <a:xfrm>
            <a:off x="914400" y="5120640"/>
            <a:ext cx="10332720" cy="1280160"/>
          </a:xfrm>
          <a:prstGeom prst="rect">
            <a:avLst/>
          </a:prstGeom>
          <a:noFill/>
        </p:spPr>
        <p:txBody>
          <a:bodyPr wrap="square" lIns="0" tIns="0" rIns="0" bIns="0">
            <a:spAutoFit/>
          </a:bodyPr>
          <a:lstStyle/>
          <a:p>
            <a:pPr>
              <a:defRPr sz="950">
                <a:solidFill>
                  <a:srgbClr val="1F2421"/>
                </a:solidFill>
                <a:latin typeface="Calibri"/>
              </a:defRPr>
            </a:pPr>
            <a:r>
              <a:t>Hai quan sát trong overlap là hai phép đo vật lý của cùng một chiếc xe từ hai góc nhìn khác nhau, không phải hai chiếc xe.</a:t>
            </a:r>
          </a:p>
          <a:p>
            <a:pPr>
              <a:spcBef>
                <a:spcPts val="400"/>
              </a:spcBef>
              <a:defRPr sz="850" b="1">
                <a:solidFill>
                  <a:srgbClr val="556B2F"/>
                </a:solidFill>
                <a:latin typeface="Arial"/>
              </a:defRPr>
            </a:pPr>
            <a:r>
              <a:t>Ý TƯỞNG CỐT LÕI: 1. Canonical Alias (Bí danh chuẩn hóa) | 2. Merge Guard (Chốt chặn chống gộp sai) | 3. Dormant Re-ID &amp; Trajectory Memory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8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728655" cy="1051560"/>
          </a:xfrm>
          <a:prstGeom prst="rect">
            <a:avLst/>
          </a:prstGeom>
          <a:noFill/>
        </p:spPr>
        <p:txBody>
          <a:bodyPr wrap="square" lIns="0" tIns="0" rIns="0" bIns="0">
            <a:spAutoFit/>
          </a:bodyPr>
          <a:lstStyle/>
          <a:p>
            <a:pPr>
              <a:defRPr sz="950" b="1">
                <a:solidFill>
                  <a:srgbClr val="C35A38"/>
                </a:solidFill>
                <a:latin typeface="Arial"/>
              </a:defRPr>
            </a:pPr>
            <a:r>
              <a:t>BÁO CÁO NGHIÊN CỨU KHOA HỌC TECHGAR  |  CHUYỂN GIAO LIÊN CAMERA  |  SLIDE 08/15</a:t>
            </a:r>
          </a:p>
          <a:p>
            <a:pPr>
              <a:spcBef>
                <a:spcPts val="200"/>
              </a:spcBef>
              <a:defRPr sz="2100" b="1">
                <a:solidFill>
                  <a:srgbClr val="0F1E2E"/>
                </a:solidFill>
                <a:latin typeface="Georgia"/>
              </a:defRPr>
            </a:pPr>
            <a:r>
              <a:t>Trực Quan Hóa Handoff Trên Bản Đồ &amp; Bộ Lọc Topology</a:t>
            </a:r>
          </a:p>
          <a:p>
            <a:pPr>
              <a:spcBef>
                <a:spcPts val="100"/>
              </a:spcBef>
              <a:defRPr sz="1050" i="1">
                <a:solidFill>
                  <a:srgbClr val="78736E"/>
                </a:solidFill>
                <a:latin typeface="Calibri"/>
              </a:defRPr>
            </a:pPr>
            <a:r>
              <a:t>Thời điểm và vị trí kích hoạt Handoff: Khóa cứng không gian trước khi tính toán ma trận chi phí</a:t>
            </a:r>
          </a:p>
        </p:txBody>
      </p:sp>
      <p:sp>
        <p:nvSpPr>
          <p:cNvPr id="4" name="Rounded Rectangle 3"/>
          <p:cNvSpPr/>
          <p:nvPr/>
        </p:nvSpPr>
        <p:spPr>
          <a:xfrm>
            <a:off x="731520" y="1463040"/>
            <a:ext cx="5212080" cy="3200400"/>
          </a:xfrm>
          <a:prstGeom prst="roundRect">
            <a:avLst/>
          </a:prstGeom>
          <a:solidFill>
            <a:srgbClr val="FFFFFF"/>
          </a:solidFill>
          <a:ln w="12700">
            <a:solidFill>
              <a:srgbClr val="E2DD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572768"/>
            <a:ext cx="4846320" cy="320040"/>
          </a:xfrm>
          <a:prstGeom prst="rect">
            <a:avLst/>
          </a:prstGeom>
          <a:noFill/>
        </p:spPr>
        <p:txBody>
          <a:bodyPr wrap="square" lIns="0" tIns="0" rIns="0" bIns="0">
            <a:spAutoFit/>
          </a:bodyPr>
          <a:lstStyle/>
          <a:p>
            <a:pPr>
              <a:defRPr sz="950" b="1">
                <a:solidFill>
                  <a:srgbClr val="0F1E2E"/>
                </a:solidFill>
                <a:latin typeface="Arial"/>
              </a:defRPr>
            </a:pPr>
            <a:r>
              <a:t>VỊ TRÍ &amp; THỜI ĐIỂM ÁP DỤNG HANDOFF</a:t>
            </a:r>
          </a:p>
        </p:txBody>
      </p:sp>
      <p:sp>
        <p:nvSpPr>
          <p:cNvPr id="6" name="TextBox 5"/>
          <p:cNvSpPr txBox="1"/>
          <p:nvPr/>
        </p:nvSpPr>
        <p:spPr>
          <a:xfrm>
            <a:off x="914400" y="1874519"/>
            <a:ext cx="4846320" cy="2651760"/>
          </a:xfrm>
          <a:prstGeom prst="rect">
            <a:avLst/>
          </a:prstGeom>
          <a:noFill/>
        </p:spPr>
        <p:txBody>
          <a:bodyPr wrap="square" lIns="0" tIns="0" rIns="0" bIns="0">
            <a:spAutoFit/>
          </a:bodyPr>
          <a:lstStyle/>
          <a:p>
            <a:pPr>
              <a:defRPr sz="1000">
                <a:solidFill>
                  <a:srgbClr val="1F2421"/>
                </a:solidFill>
                <a:latin typeface="Calibri"/>
              </a:defRPr>
            </a:pPr>
            <a:r>
              <a:t>• Khi nào mới kích hoạt?: Hệ thống KHÔNG tìm kiếm tự do trên toàn bộ bãi xe; chỉ kích hoạt khi xe tiến vào ranh giới tiếp giáp giữa 2 camera.</a:t>
            </a:r>
          </a:p>
          <a:p>
            <a:pPr>
              <a:spcBef>
                <a:spcPts val="600"/>
              </a:spcBef>
              <a:defRPr sz="1000">
                <a:solidFill>
                  <a:srgbClr val="1F2421"/>
                </a:solidFill>
                <a:latin typeface="Calibri"/>
              </a:defRPr>
            </a:pPr>
            <a:r>
              <a:t>• Cổng cứng Topology (Hard Gate): Chỉ các xe xuất hiện đúng hành lang Cam 1 Phải ↔ Cam 2 Trái mới được đưa vào danh sách ứng viên (candidate).</a:t>
            </a:r>
          </a:p>
          <a:p>
            <a:pPr>
              <a:spcBef>
                <a:spcPts val="600"/>
              </a:spcBef>
              <a:defRPr sz="1000">
                <a:solidFill>
                  <a:srgbClr val="1F2421"/>
                </a:solidFill>
                <a:latin typeface="Calibri"/>
              </a:defRPr>
            </a:pPr>
            <a:r>
              <a:t>• Triệt tiêu lỗi gộp nhầm: Một chiếc xe cùng màu ở tít góc xa của bãi xe lập tức bị loại bỏ từ vòng gửi xe (LOCKED: Topology Breach).</a:t>
            </a:r>
          </a:p>
        </p:txBody>
      </p:sp>
      <p:sp>
        <p:nvSpPr>
          <p:cNvPr id="7" name="Rounded Rectangle 6"/>
          <p:cNvSpPr/>
          <p:nvPr/>
        </p:nvSpPr>
        <p:spPr>
          <a:xfrm>
            <a:off x="6126480" y="1463040"/>
            <a:ext cx="5303520" cy="3200400"/>
          </a:xfrm>
          <a:prstGeom prst="roundRect">
            <a:avLst/>
          </a:prstGeom>
          <a:solidFill>
            <a:srgbClr val="FFFFFF"/>
          </a:solidFill>
          <a:ln w="12700">
            <a:solidFill>
              <a:srgbClr val="E2DD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09360" y="1572768"/>
            <a:ext cx="4937759" cy="320040"/>
          </a:xfrm>
          <a:prstGeom prst="rect">
            <a:avLst/>
          </a:prstGeom>
          <a:noFill/>
        </p:spPr>
        <p:txBody>
          <a:bodyPr wrap="square" lIns="0" tIns="0" rIns="0" bIns="0">
            <a:spAutoFit/>
          </a:bodyPr>
          <a:lstStyle/>
          <a:p>
            <a:pPr>
              <a:defRPr sz="950" b="1">
                <a:solidFill>
                  <a:srgbClr val="0F1E2E"/>
                </a:solidFill>
                <a:latin typeface="Arial"/>
              </a:defRPr>
            </a:pPr>
            <a:r>
              <a:t>QUY TRÌNH HANDOFF TRÊN BẢN ĐỒ SHARED MAP</a:t>
            </a:r>
          </a:p>
        </p:txBody>
      </p:sp>
      <p:pic>
        <p:nvPicPr>
          <p:cNvPr id="9" name="Picture 8" descr="frame_0283_handoff_opened_debug_cam2.jpg"/>
          <p:cNvPicPr>
            <a:picLocks noChangeAspect="1"/>
          </p:cNvPicPr>
          <p:nvPr/>
        </p:nvPicPr>
        <p:blipFill>
          <a:blip r:embed="rId2"/>
          <a:stretch>
            <a:fillRect/>
          </a:stretch>
        </p:blipFill>
        <p:spPr>
          <a:xfrm>
            <a:off x="6309360" y="1874519"/>
            <a:ext cx="4937760" cy="2331720"/>
          </a:xfrm>
          <a:prstGeom prst="rect">
            <a:avLst/>
          </a:prstGeom>
        </p:spPr>
      </p:pic>
      <p:sp>
        <p:nvSpPr>
          <p:cNvPr id="10" name="TextBox 9"/>
          <p:cNvSpPr txBox="1"/>
          <p:nvPr/>
        </p:nvSpPr>
        <p:spPr>
          <a:xfrm>
            <a:off x="6309360" y="4279392"/>
            <a:ext cx="4937760" cy="320040"/>
          </a:xfrm>
          <a:prstGeom prst="rect">
            <a:avLst/>
          </a:prstGeom>
          <a:noFill/>
        </p:spPr>
        <p:txBody>
          <a:bodyPr wrap="square" lIns="0" tIns="0" rIns="0" bIns="0">
            <a:spAutoFit/>
          </a:bodyPr>
          <a:lstStyle/>
          <a:p>
            <a:pPr>
              <a:defRPr sz="850" i="1">
                <a:solidFill>
                  <a:srgbClr val="78736E"/>
                </a:solidFill>
                <a:latin typeface="Calibri"/>
              </a:defRPr>
            </a:pPr>
            <a:r>
              <a:t>Ảnh thực tế: Sự kiện handoff_opened kích hoạt tại frame 283 trên ranh giới overlap</a:t>
            </a:r>
          </a:p>
        </p:txBody>
      </p:sp>
      <p:sp>
        <p:nvSpPr>
          <p:cNvPr id="11" name="Rounded Rectangle 10"/>
          <p:cNvSpPr/>
          <p:nvPr/>
        </p:nvSpPr>
        <p:spPr>
          <a:xfrm>
            <a:off x="731520" y="4800600"/>
            <a:ext cx="10698480" cy="1691640"/>
          </a:xfrm>
          <a:prstGeom prst="roundRect">
            <a:avLst/>
          </a:prstGeom>
          <a:solidFill>
            <a:srgbClr val="F3F0EA"/>
          </a:solidFill>
          <a:ln w="12700">
            <a:solidFill>
              <a:srgbClr val="C35A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4910328"/>
            <a:ext cx="10332719" cy="320040"/>
          </a:xfrm>
          <a:prstGeom prst="rect">
            <a:avLst/>
          </a:prstGeom>
          <a:noFill/>
        </p:spPr>
        <p:txBody>
          <a:bodyPr wrap="square" lIns="0" tIns="0" rIns="0" bIns="0">
            <a:spAutoFit/>
          </a:bodyPr>
          <a:lstStyle/>
          <a:p>
            <a:pPr>
              <a:defRPr sz="950" b="1">
                <a:solidFill>
                  <a:srgbClr val="0F1E2E"/>
                </a:solidFill>
                <a:latin typeface="Arial"/>
              </a:defRPr>
            </a:pPr>
            <a:r>
              <a:t>Ý NGHĨA KỸ THUẬT CỦA TOPOLOGY GATE</a:t>
            </a:r>
          </a:p>
        </p:txBody>
      </p:sp>
      <p:sp>
        <p:nvSpPr>
          <p:cNvPr id="13" name="TextBox 12"/>
          <p:cNvSpPr txBox="1"/>
          <p:nvPr/>
        </p:nvSpPr>
        <p:spPr>
          <a:xfrm>
            <a:off x="914400" y="5120640"/>
            <a:ext cx="10332720" cy="1280160"/>
          </a:xfrm>
          <a:prstGeom prst="rect">
            <a:avLst/>
          </a:prstGeom>
          <a:noFill/>
        </p:spPr>
        <p:txBody>
          <a:bodyPr wrap="square" lIns="0" tIns="0" rIns="0" bIns="0">
            <a:spAutoFit/>
          </a:bodyPr>
          <a:lstStyle/>
          <a:p>
            <a:pPr>
              <a:defRPr sz="950">
                <a:solidFill>
                  <a:srgbClr val="1F2421"/>
                </a:solidFill>
                <a:latin typeface="Calibri"/>
              </a:defRPr>
            </a:pPr>
            <a:r>
              <a:t>Topology giải quyết bài toán khả dĩ vật lý (physical plausibility) trước khi toán học tối ưu hóa ma trận chi phí.</a:t>
            </a:r>
          </a:p>
          <a:p>
            <a:pPr>
              <a:spcBef>
                <a:spcPts val="400"/>
              </a:spcBef>
              <a:defRPr sz="850" b="1">
                <a:solidFill>
                  <a:srgbClr val="556B2F"/>
                </a:solidFill>
                <a:latin typeface="Arial"/>
              </a:defRPr>
            </a:pPr>
            <a:r>
              <a:t>Ý TƯỞNG CỐT LÕI: 1. Ranh giới Overlap | 2. Sự kiện handoff_opened | 3. Bắt cặp tối ưu (LAPJV)</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8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728655" cy="1051560"/>
          </a:xfrm>
          <a:prstGeom prst="rect">
            <a:avLst/>
          </a:prstGeom>
          <a:noFill/>
        </p:spPr>
        <p:txBody>
          <a:bodyPr wrap="square" lIns="0" tIns="0" rIns="0" bIns="0">
            <a:spAutoFit/>
          </a:bodyPr>
          <a:lstStyle/>
          <a:p>
            <a:pPr>
              <a:defRPr sz="950" b="1">
                <a:solidFill>
                  <a:srgbClr val="C35A38"/>
                </a:solidFill>
                <a:latin typeface="Arial"/>
              </a:defRPr>
            </a:pPr>
            <a:r>
              <a:t>BÁO CÁO NGHIÊN CỨU KHOA HỌC TECHGAR  |  MA TRẬN CHI PHÍ  |  SLIDE 09/15</a:t>
            </a:r>
          </a:p>
          <a:p>
            <a:pPr>
              <a:spcBef>
                <a:spcPts val="200"/>
              </a:spcBef>
              <a:defRPr sz="2100" b="1">
                <a:solidFill>
                  <a:srgbClr val="0F1E2E"/>
                </a:solidFill>
                <a:latin typeface="Georgia"/>
              </a:defRPr>
            </a:pPr>
            <a:r>
              <a:t>Bản Chất Ma Trận Chi Phí (Cost Matrix) &amp; Khái Niệm Góc Hướng (Angle)</a:t>
            </a:r>
          </a:p>
          <a:p>
            <a:pPr>
              <a:spcBef>
                <a:spcPts val="100"/>
              </a:spcBef>
              <a:defRPr sz="1050" i="1">
                <a:solidFill>
                  <a:srgbClr val="78736E"/>
                </a:solidFill>
                <a:latin typeface="Calibri"/>
              </a:defRPr>
            </a:pPr>
            <a:r>
              <a:t>Giải thích 4 thành phần trọng số và cơ chế loại trừ chuyển động ngược chiều bằng Cosine</a:t>
            </a:r>
          </a:p>
        </p:txBody>
      </p:sp>
      <p:sp>
        <p:nvSpPr>
          <p:cNvPr id="4" name="Rounded Rectangle 3"/>
          <p:cNvSpPr/>
          <p:nvPr/>
        </p:nvSpPr>
        <p:spPr>
          <a:xfrm>
            <a:off x="731520" y="1463040"/>
            <a:ext cx="5212080" cy="3200400"/>
          </a:xfrm>
          <a:prstGeom prst="roundRect">
            <a:avLst/>
          </a:prstGeom>
          <a:solidFill>
            <a:srgbClr val="FFFFFF"/>
          </a:solidFill>
          <a:ln w="12700">
            <a:solidFill>
              <a:srgbClr val="E2DD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572768"/>
            <a:ext cx="4846320" cy="320040"/>
          </a:xfrm>
          <a:prstGeom prst="rect">
            <a:avLst/>
          </a:prstGeom>
          <a:noFill/>
        </p:spPr>
        <p:txBody>
          <a:bodyPr wrap="square" lIns="0" tIns="0" rIns="0" bIns="0">
            <a:spAutoFit/>
          </a:bodyPr>
          <a:lstStyle/>
          <a:p>
            <a:pPr>
              <a:defRPr sz="950" b="1">
                <a:solidFill>
                  <a:srgbClr val="0F1E2E"/>
                </a:solidFill>
                <a:latin typeface="Arial"/>
              </a:defRPr>
            </a:pPr>
            <a:r>
              <a:t>CÔNG THỨC CHI PHÍ 4 THÀNH PHẦN &amp; RỦI RO ĐÁNH ĐỔI</a:t>
            </a:r>
          </a:p>
        </p:txBody>
      </p:sp>
      <p:sp>
        <p:nvSpPr>
          <p:cNvPr id="6" name="TextBox 5"/>
          <p:cNvSpPr txBox="1"/>
          <p:nvPr/>
        </p:nvSpPr>
        <p:spPr>
          <a:xfrm>
            <a:off x="914400" y="1874519"/>
            <a:ext cx="4846320" cy="2651760"/>
          </a:xfrm>
          <a:prstGeom prst="rect">
            <a:avLst/>
          </a:prstGeom>
          <a:noFill/>
        </p:spPr>
        <p:txBody>
          <a:bodyPr wrap="square" lIns="0" tIns="0" rIns="0" bIns="0">
            <a:spAutoFit/>
          </a:bodyPr>
          <a:lstStyle/>
          <a:p>
            <a:pPr>
              <a:defRPr sz="1000">
                <a:solidFill>
                  <a:srgbClr val="1F2421"/>
                </a:solidFill>
                <a:latin typeface="Calibri"/>
              </a:defRPr>
            </a:pPr>
            <a:r>
              <a:t>• Công thức chi phí tổng hợp: C = 0.55*Vị_trí + 0.30*Màu_sắc + 0.10*Kích_thước + 0.05*Hướng_di_chuyển</a:t>
            </a:r>
          </a:p>
          <a:p>
            <a:pPr>
              <a:spcBef>
                <a:spcPts val="600"/>
              </a:spcBef>
              <a:defRPr sz="1000">
                <a:solidFill>
                  <a:srgbClr val="1F2421"/>
                </a:solidFill>
                <a:latin typeface="Calibri"/>
              </a:defRPr>
            </a:pPr>
            <a:r>
              <a:t>• Tại sao Vị trí chiếm 55%?: Động học trong hầm là liên tục. Nếu tăng lên 80%, 2 xe đi sát nhau sẽ bị đổi chéo ID.</a:t>
            </a:r>
          </a:p>
          <a:p>
            <a:pPr>
              <a:spcBef>
                <a:spcPts val="600"/>
              </a:spcBef>
              <a:defRPr sz="1000">
                <a:solidFill>
                  <a:srgbClr val="1F2421"/>
                </a:solidFill>
                <a:latin typeface="Calibri"/>
              </a:defRPr>
            </a:pPr>
            <a:r>
              <a:t>• Tại sao Màu sắc chiếm 30%?: Dùng histogram HSV/LAB phân biệt xe khác màu. Nếu tăng lên 70%, 2 xe cùng màu trắng/đen sẽ bị gộp nhầm.</a:t>
            </a:r>
          </a:p>
          <a:p>
            <a:pPr>
              <a:spcBef>
                <a:spcPts val="600"/>
              </a:spcBef>
              <a:defRPr sz="1000">
                <a:solidFill>
                  <a:srgbClr val="1F2421"/>
                </a:solidFill>
                <a:latin typeface="Calibri"/>
              </a:defRPr>
            </a:pPr>
            <a:r>
              <a:t>• Kích thước 10% &amp; Hướng 5%: Kiểm tra tính nhất quán footprint và bù trừ góc di chuyển.</a:t>
            </a:r>
          </a:p>
        </p:txBody>
      </p:sp>
      <p:sp>
        <p:nvSpPr>
          <p:cNvPr id="7" name="Rounded Rectangle 6"/>
          <p:cNvSpPr/>
          <p:nvPr/>
        </p:nvSpPr>
        <p:spPr>
          <a:xfrm>
            <a:off x="6126480" y="1463040"/>
            <a:ext cx="5303520" cy="3200400"/>
          </a:xfrm>
          <a:prstGeom prst="roundRect">
            <a:avLst/>
          </a:prstGeom>
          <a:solidFill>
            <a:srgbClr val="FFFFFF"/>
          </a:solidFill>
          <a:ln w="12700">
            <a:solidFill>
              <a:srgbClr val="E2DD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09360" y="1572768"/>
            <a:ext cx="4937759" cy="320040"/>
          </a:xfrm>
          <a:prstGeom prst="rect">
            <a:avLst/>
          </a:prstGeom>
          <a:noFill/>
        </p:spPr>
        <p:txBody>
          <a:bodyPr wrap="square" lIns="0" tIns="0" rIns="0" bIns="0">
            <a:spAutoFit/>
          </a:bodyPr>
          <a:lstStyle/>
          <a:p>
            <a:pPr>
              <a:defRPr sz="950" b="1">
                <a:solidFill>
                  <a:srgbClr val="0F1E2E"/>
                </a:solidFill>
                <a:latin typeface="Arial"/>
              </a:defRPr>
            </a:pPr>
            <a:r>
              <a:t>KHÁI NIỆM GÓC HƯỚNG (ANGLE) &amp; CỔNG HƯỚNG (DIRECTION GATE)</a:t>
            </a:r>
          </a:p>
        </p:txBody>
      </p:sp>
      <p:pic>
        <p:nvPicPr>
          <p:cNvPr id="9" name="Picture 8" descr="frame_0336_handoff_matched_split_debug.jpg"/>
          <p:cNvPicPr>
            <a:picLocks noChangeAspect="1"/>
          </p:cNvPicPr>
          <p:nvPr/>
        </p:nvPicPr>
        <p:blipFill>
          <a:blip r:embed="rId2"/>
          <a:stretch>
            <a:fillRect/>
          </a:stretch>
        </p:blipFill>
        <p:spPr>
          <a:xfrm>
            <a:off x="6309360" y="1874519"/>
            <a:ext cx="4937760" cy="2331720"/>
          </a:xfrm>
          <a:prstGeom prst="rect">
            <a:avLst/>
          </a:prstGeom>
        </p:spPr>
      </p:pic>
      <p:sp>
        <p:nvSpPr>
          <p:cNvPr id="10" name="TextBox 9"/>
          <p:cNvSpPr txBox="1"/>
          <p:nvPr/>
        </p:nvSpPr>
        <p:spPr>
          <a:xfrm>
            <a:off x="6309360" y="4279392"/>
            <a:ext cx="4937760" cy="320040"/>
          </a:xfrm>
          <a:prstGeom prst="rect">
            <a:avLst/>
          </a:prstGeom>
          <a:noFill/>
        </p:spPr>
        <p:txBody>
          <a:bodyPr wrap="square" lIns="0" tIns="0" rIns="0" bIns="0">
            <a:spAutoFit/>
          </a:bodyPr>
          <a:lstStyle/>
          <a:p>
            <a:pPr>
              <a:defRPr sz="850" i="1">
                <a:solidFill>
                  <a:srgbClr val="78736E"/>
                </a:solidFill>
                <a:latin typeface="Calibri"/>
              </a:defRPr>
            </a:pPr>
            <a:r>
              <a:t>Ảnh minh họa: Ma trận chi phí khớp thành công cặp quan sát có cosθ &gt; 0.25 tại frame 336</a:t>
            </a:r>
          </a:p>
        </p:txBody>
      </p:sp>
      <p:sp>
        <p:nvSpPr>
          <p:cNvPr id="11" name="Rounded Rectangle 10"/>
          <p:cNvSpPr/>
          <p:nvPr/>
        </p:nvSpPr>
        <p:spPr>
          <a:xfrm>
            <a:off x="731520" y="4800600"/>
            <a:ext cx="10698480" cy="1691640"/>
          </a:xfrm>
          <a:prstGeom prst="roundRect">
            <a:avLst/>
          </a:prstGeom>
          <a:solidFill>
            <a:srgbClr val="F3F0EA"/>
          </a:solidFill>
          <a:ln w="12700">
            <a:solidFill>
              <a:srgbClr val="C35A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4910328"/>
            <a:ext cx="10332719" cy="320040"/>
          </a:xfrm>
          <a:prstGeom prst="rect">
            <a:avLst/>
          </a:prstGeom>
          <a:noFill/>
        </p:spPr>
        <p:txBody>
          <a:bodyPr wrap="square" lIns="0" tIns="0" rIns="0" bIns="0">
            <a:spAutoFit/>
          </a:bodyPr>
          <a:lstStyle/>
          <a:p>
            <a:pPr>
              <a:defRPr sz="950" b="1">
                <a:solidFill>
                  <a:srgbClr val="0F1E2E"/>
                </a:solidFill>
                <a:latin typeface="Arial"/>
              </a:defRPr>
            </a:pPr>
            <a:r>
              <a:t>ĐÓNG GÓP TOÁN HỌC</a:t>
            </a:r>
          </a:p>
        </p:txBody>
      </p:sp>
      <p:sp>
        <p:nvSpPr>
          <p:cNvPr id="13" name="TextBox 12"/>
          <p:cNvSpPr txBox="1"/>
          <p:nvPr/>
        </p:nvSpPr>
        <p:spPr>
          <a:xfrm>
            <a:off x="914400" y="5120640"/>
            <a:ext cx="10332720" cy="1280160"/>
          </a:xfrm>
          <a:prstGeom prst="rect">
            <a:avLst/>
          </a:prstGeom>
          <a:noFill/>
        </p:spPr>
        <p:txBody>
          <a:bodyPr wrap="square" lIns="0" tIns="0" rIns="0" bIns="0">
            <a:spAutoFit/>
          </a:bodyPr>
          <a:lstStyle/>
          <a:p>
            <a:pPr>
              <a:defRPr sz="950">
                <a:solidFill>
                  <a:srgbClr val="1F2421"/>
                </a:solidFill>
                <a:latin typeface="Calibri"/>
              </a:defRPr>
            </a:pPr>
            <a:r>
              <a:t>Sự kết hợp giữa khoảng cách không gian (cm), không gian màu (HSV/LAB) và động học góc hướng (cosθ) đảm bảo nghiệm gán một-một chính xác tuyệt đối.</a:t>
            </a:r>
          </a:p>
          <a:p>
            <a:pPr>
              <a:spcBef>
                <a:spcPts val="400"/>
              </a:spcBef>
              <a:defRPr sz="850" b="1">
                <a:solidFill>
                  <a:srgbClr val="556B2F"/>
                </a:solidFill>
                <a:latin typeface="Arial"/>
              </a:defRPr>
            </a:pPr>
            <a:r>
              <a:t>Ý TƯỞNG CỐT LÕI: Công thức Cosine góc hướng | Ý nghĩa hình học | Cổng loại trừ cứng (Hard Gate)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8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728655" cy="1051560"/>
          </a:xfrm>
          <a:prstGeom prst="rect">
            <a:avLst/>
          </a:prstGeom>
          <a:noFill/>
        </p:spPr>
        <p:txBody>
          <a:bodyPr wrap="square" lIns="0" tIns="0" rIns="0" bIns="0">
            <a:spAutoFit/>
          </a:bodyPr>
          <a:lstStyle/>
          <a:p>
            <a:pPr>
              <a:defRPr sz="950" b="1">
                <a:solidFill>
                  <a:srgbClr val="C35A38"/>
                </a:solidFill>
                <a:latin typeface="Arial"/>
              </a:defRPr>
            </a:pPr>
            <a:r>
              <a:t>BÁO CÁO NGHIÊN CỨU KHOA HỌC TECHGAR  |  NHẬN DIỆN Ô ĐỖ  |  SLIDE 10/15</a:t>
            </a:r>
          </a:p>
          <a:p>
            <a:pPr>
              <a:spcBef>
                <a:spcPts val="200"/>
              </a:spcBef>
              <a:defRPr sz="2100" b="1">
                <a:solidFill>
                  <a:srgbClr val="0F1E2E"/>
                </a:solidFill>
                <a:latin typeface="Georgia"/>
              </a:defRPr>
            </a:pPr>
            <a:r>
              <a:t>Nhận Diện Ô Đỗ Equalizer Quang Học Thích Ứng (Adaptive Ensemble)</a:t>
            </a:r>
          </a:p>
          <a:p>
            <a:pPr>
              <a:spcBef>
                <a:spcPts val="100"/>
              </a:spcBef>
              <a:defRPr sz="1050" i="1">
                <a:solidFill>
                  <a:srgbClr val="78736E"/>
                </a:solidFill>
                <a:latin typeface="Calibri"/>
              </a:defRPr>
            </a:pPr>
            <a:r>
              <a:t>Tại sao phải dùng Equalizer 9/25 biến thể? Giải quyết bẫy chênh sáng, lóa đèn và bóng râm tầng hầm</a:t>
            </a:r>
          </a:p>
        </p:txBody>
      </p:sp>
      <p:sp>
        <p:nvSpPr>
          <p:cNvPr id="4" name="Rounded Rectangle 3"/>
          <p:cNvSpPr/>
          <p:nvPr/>
        </p:nvSpPr>
        <p:spPr>
          <a:xfrm>
            <a:off x="731520" y="1463040"/>
            <a:ext cx="5212080" cy="3200400"/>
          </a:xfrm>
          <a:prstGeom prst="roundRect">
            <a:avLst/>
          </a:prstGeom>
          <a:solidFill>
            <a:srgbClr val="FFFFFF"/>
          </a:solidFill>
          <a:ln w="12700">
            <a:solidFill>
              <a:srgbClr val="E2DD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572768"/>
            <a:ext cx="4846320" cy="320040"/>
          </a:xfrm>
          <a:prstGeom prst="rect">
            <a:avLst/>
          </a:prstGeom>
          <a:noFill/>
        </p:spPr>
        <p:txBody>
          <a:bodyPr wrap="square" lIns="0" tIns="0" rIns="0" bIns="0">
            <a:spAutoFit/>
          </a:bodyPr>
          <a:lstStyle/>
          <a:p>
            <a:pPr>
              <a:defRPr sz="950" b="1">
                <a:solidFill>
                  <a:srgbClr val="0F1E2E"/>
                </a:solidFill>
                <a:latin typeface="Arial"/>
              </a:defRPr>
            </a:pPr>
            <a:r>
              <a:t>THỰC TẾ MÔI TRƯỜNG TẦNG HẦM BIẾN ĐỔI KHẮC NGHIỆT</a:t>
            </a:r>
          </a:p>
        </p:txBody>
      </p:sp>
      <p:sp>
        <p:nvSpPr>
          <p:cNvPr id="6" name="TextBox 5"/>
          <p:cNvSpPr txBox="1"/>
          <p:nvPr/>
        </p:nvSpPr>
        <p:spPr>
          <a:xfrm>
            <a:off x="914400" y="1874519"/>
            <a:ext cx="4846320" cy="2651760"/>
          </a:xfrm>
          <a:prstGeom prst="rect">
            <a:avLst/>
          </a:prstGeom>
          <a:noFill/>
        </p:spPr>
        <p:txBody>
          <a:bodyPr wrap="square" lIns="0" tIns="0" rIns="0" bIns="0">
            <a:spAutoFit/>
          </a:bodyPr>
          <a:lstStyle/>
          <a:p>
            <a:pPr>
              <a:defRPr sz="1000">
                <a:solidFill>
                  <a:srgbClr val="1F2421"/>
                </a:solidFill>
                <a:latin typeface="Calibri"/>
              </a:defRPr>
            </a:pPr>
            <a:r>
              <a:t>• Bẫy ánh sáng phức tạp: Đèn pha xe rọi thẳng gây lóa trắng; bóng râm cột tạo mảng đen; đèn trần huỳnh quang nhấp nháy; thời tiết mưa ẩm làm sàn bóng lộn.</a:t>
            </a:r>
          </a:p>
          <a:p>
            <a:pPr>
              <a:spcBef>
                <a:spcPts val="600"/>
              </a:spcBef>
              <a:defRPr sz="1000">
                <a:solidFill>
                  <a:srgbClr val="1F2421"/>
                </a:solidFill>
                <a:latin typeface="Calibri"/>
              </a:defRPr>
            </a:pPr>
            <a:r>
              <a:t>• Tại sao ngưỡng cố định (Fixed Threshold) thất bại?: Một ngưỡng cố định chỉ đúng trong 1 điều kiện sáng; khi xe bật đèn pha, ô trống bị nhận nhầm thành có xe (chớp tắt liên tục).</a:t>
            </a:r>
          </a:p>
          <a:p>
            <a:pPr>
              <a:spcBef>
                <a:spcPts val="600"/>
              </a:spcBef>
              <a:defRPr sz="1000">
                <a:solidFill>
                  <a:srgbClr val="1F2421"/>
                </a:solidFill>
                <a:latin typeface="Calibri"/>
              </a:defRPr>
            </a:pPr>
            <a:r>
              <a:t>• Ý tưởng Equalizer quang học: Tương tự mixer âm thanh tinh chỉnh từng dải tần, hệ thống chia phổ sáng thành nhiều biến thể tiền xử lý song song.</a:t>
            </a:r>
          </a:p>
        </p:txBody>
      </p:sp>
      <p:sp>
        <p:nvSpPr>
          <p:cNvPr id="7" name="Rounded Rectangle 6"/>
          <p:cNvSpPr/>
          <p:nvPr/>
        </p:nvSpPr>
        <p:spPr>
          <a:xfrm>
            <a:off x="6126480" y="1463040"/>
            <a:ext cx="5303520" cy="3200400"/>
          </a:xfrm>
          <a:prstGeom prst="roundRect">
            <a:avLst/>
          </a:prstGeom>
          <a:solidFill>
            <a:srgbClr val="FFFFFF"/>
          </a:solidFill>
          <a:ln w="12700">
            <a:solidFill>
              <a:srgbClr val="E2DD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09360" y="1572768"/>
            <a:ext cx="4937759" cy="320040"/>
          </a:xfrm>
          <a:prstGeom prst="rect">
            <a:avLst/>
          </a:prstGeom>
          <a:noFill/>
        </p:spPr>
        <p:txBody>
          <a:bodyPr wrap="square" lIns="0" tIns="0" rIns="0" bIns="0">
            <a:spAutoFit/>
          </a:bodyPr>
          <a:lstStyle/>
          <a:p>
            <a:pPr>
              <a:defRPr sz="950" b="1">
                <a:solidFill>
                  <a:srgbClr val="0F1E2E"/>
                </a:solidFill>
                <a:latin typeface="Arial"/>
              </a:defRPr>
            </a:pPr>
            <a:r>
              <a:t>CẤU TRÚC LƯỚI 9/25 BIẾN THỂ &amp; BẢNG THAM SỐ THÍCH ỨNG</a:t>
            </a:r>
          </a:p>
        </p:txBody>
      </p:sp>
      <p:pic>
        <p:nvPicPr>
          <p:cNvPr id="9" name="Picture 8" descr="frame_0543_parked_confirmed_debug_cam2.jpg"/>
          <p:cNvPicPr>
            <a:picLocks noChangeAspect="1"/>
          </p:cNvPicPr>
          <p:nvPr/>
        </p:nvPicPr>
        <p:blipFill>
          <a:blip r:embed="rId2"/>
          <a:stretch>
            <a:fillRect/>
          </a:stretch>
        </p:blipFill>
        <p:spPr>
          <a:xfrm>
            <a:off x="6309360" y="1874519"/>
            <a:ext cx="4937760" cy="2331720"/>
          </a:xfrm>
          <a:prstGeom prst="rect">
            <a:avLst/>
          </a:prstGeom>
        </p:spPr>
      </p:pic>
      <p:sp>
        <p:nvSpPr>
          <p:cNvPr id="10" name="TextBox 9"/>
          <p:cNvSpPr txBox="1"/>
          <p:nvPr/>
        </p:nvSpPr>
        <p:spPr>
          <a:xfrm>
            <a:off x="6309360" y="4279392"/>
            <a:ext cx="4937760" cy="320040"/>
          </a:xfrm>
          <a:prstGeom prst="rect">
            <a:avLst/>
          </a:prstGeom>
          <a:noFill/>
        </p:spPr>
        <p:txBody>
          <a:bodyPr wrap="square" lIns="0" tIns="0" rIns="0" bIns="0">
            <a:spAutoFit/>
          </a:bodyPr>
          <a:lstStyle/>
          <a:p>
            <a:pPr>
              <a:defRPr sz="850" i="1">
                <a:solidFill>
                  <a:srgbClr val="78736E"/>
                </a:solidFill>
                <a:latin typeface="Calibri"/>
              </a:defRPr>
            </a:pPr>
            <a:r>
              <a:t>Ảnh thực tế: Phân đoạn thích ứng phát hiện chính xác xe đỗ vào ô C06 dưới ánh sáng thay đổi</a:t>
            </a:r>
          </a:p>
        </p:txBody>
      </p:sp>
      <p:sp>
        <p:nvSpPr>
          <p:cNvPr id="11" name="Rounded Rectangle 10"/>
          <p:cNvSpPr/>
          <p:nvPr/>
        </p:nvSpPr>
        <p:spPr>
          <a:xfrm>
            <a:off x="731520" y="4800600"/>
            <a:ext cx="10698480" cy="1691640"/>
          </a:xfrm>
          <a:prstGeom prst="roundRect">
            <a:avLst/>
          </a:prstGeom>
          <a:solidFill>
            <a:srgbClr val="F3F0EA"/>
          </a:solidFill>
          <a:ln w="12700">
            <a:solidFill>
              <a:srgbClr val="C35A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4910328"/>
            <a:ext cx="10332719" cy="320040"/>
          </a:xfrm>
          <a:prstGeom prst="rect">
            <a:avLst/>
          </a:prstGeom>
          <a:noFill/>
        </p:spPr>
        <p:txBody>
          <a:bodyPr wrap="square" lIns="0" tIns="0" rIns="0" bIns="0">
            <a:spAutoFit/>
          </a:bodyPr>
          <a:lstStyle/>
          <a:p>
            <a:pPr>
              <a:defRPr sz="950" b="1">
                <a:solidFill>
                  <a:srgbClr val="0F1E2E"/>
                </a:solidFill>
                <a:latin typeface="Arial"/>
              </a:defRPr>
            </a:pPr>
            <a:r>
              <a:t>HIỆU QUẢ CỦA ENSEMBLE QUANG HỌC</a:t>
            </a:r>
          </a:p>
        </p:txBody>
      </p:sp>
      <p:sp>
        <p:nvSpPr>
          <p:cNvPr id="13" name="TextBox 12"/>
          <p:cNvSpPr txBox="1"/>
          <p:nvPr/>
        </p:nvSpPr>
        <p:spPr>
          <a:xfrm>
            <a:off x="914400" y="5120640"/>
            <a:ext cx="10332720" cy="1280160"/>
          </a:xfrm>
          <a:prstGeom prst="rect">
            <a:avLst/>
          </a:prstGeom>
          <a:noFill/>
        </p:spPr>
        <p:txBody>
          <a:bodyPr wrap="square" lIns="0" tIns="0" rIns="0" bIns="0">
            <a:spAutoFit/>
          </a:bodyPr>
          <a:lstStyle/>
          <a:p>
            <a:pPr>
              <a:defRPr sz="950">
                <a:solidFill>
                  <a:srgbClr val="1F2421"/>
                </a:solidFill>
                <a:latin typeface="Calibri"/>
              </a:defRPr>
            </a:pPr>
            <a:r>
              <a:t>Giảm từ 25 xuống 9 biến thể giúp giảm thời gian tính toán từ 174 ms xuống 124 ms mà vẫn giữ nguyên độ ổn định nhận diện ô đỗ.</a:t>
            </a:r>
          </a:p>
          <a:p>
            <a:pPr>
              <a:spcBef>
                <a:spcPts val="400"/>
              </a:spcBef>
              <a:defRPr sz="850" b="1">
                <a:solidFill>
                  <a:srgbClr val="556B2F"/>
                </a:solidFill>
                <a:latin typeface="Arial"/>
              </a:defRPr>
            </a:pPr>
            <a:r>
              <a:t>Ý TƯỞNG CỐT LÕI: Lịch sử phát triển biến thể | Pipeline tiền xử lý | Tại sao chọn Gamma &amp; CLAHE?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8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728655" cy="1051560"/>
          </a:xfrm>
          <a:prstGeom prst="rect">
            <a:avLst/>
          </a:prstGeom>
          <a:noFill/>
        </p:spPr>
        <p:txBody>
          <a:bodyPr wrap="square" lIns="0" tIns="0" rIns="0" bIns="0">
            <a:spAutoFit/>
          </a:bodyPr>
          <a:lstStyle/>
          <a:p>
            <a:pPr>
              <a:defRPr sz="950" b="1">
                <a:solidFill>
                  <a:srgbClr val="C35A38"/>
                </a:solidFill>
                <a:latin typeface="Arial"/>
              </a:defRPr>
            </a:pPr>
            <a:r>
              <a:t>BÁO CÁO NGHIÊN CỨU KHOA HỌC TECHGAR  |  KHÓA TRẠNG THÁI Ô  |  SLIDE 11/15</a:t>
            </a:r>
          </a:p>
          <a:p>
            <a:pPr>
              <a:spcBef>
                <a:spcPts val="200"/>
              </a:spcBef>
              <a:defRPr sz="2100" b="1">
                <a:solidFill>
                  <a:srgbClr val="0F1E2E"/>
                </a:solidFill>
                <a:latin typeface="Georgia"/>
              </a:defRPr>
            </a:pPr>
            <a:r>
              <a:t>Quy Trình Xe Vào Ô Đỗ &amp; Bộ Ràng Buộc Trạng Thái (SlotVehicleBinder)</a:t>
            </a:r>
          </a:p>
          <a:p>
            <a:pPr>
              <a:spcBef>
                <a:spcPts val="100"/>
              </a:spcBef>
              <a:defRPr sz="1050" i="1">
                <a:solidFill>
                  <a:srgbClr val="78736E"/>
                </a:solidFill>
                <a:latin typeface="Calibri"/>
              </a:defRPr>
            </a:pPr>
            <a:r>
              <a:t>Vượt qua thử thách tiến lùi nhiều đỏ, góc đỗ xiên và cơ chế giữ bộ nhớ Token 5 giây</a:t>
            </a:r>
          </a:p>
        </p:txBody>
      </p:sp>
      <p:sp>
        <p:nvSpPr>
          <p:cNvPr id="4" name="Rounded Rectangle 3"/>
          <p:cNvSpPr/>
          <p:nvPr/>
        </p:nvSpPr>
        <p:spPr>
          <a:xfrm>
            <a:off x="731520" y="1463040"/>
            <a:ext cx="5212080" cy="3200400"/>
          </a:xfrm>
          <a:prstGeom prst="roundRect">
            <a:avLst/>
          </a:prstGeom>
          <a:solidFill>
            <a:srgbClr val="FFFFFF"/>
          </a:solidFill>
          <a:ln w="12700">
            <a:solidFill>
              <a:srgbClr val="E2DD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572768"/>
            <a:ext cx="4846320" cy="320040"/>
          </a:xfrm>
          <a:prstGeom prst="rect">
            <a:avLst/>
          </a:prstGeom>
          <a:noFill/>
        </p:spPr>
        <p:txBody>
          <a:bodyPr wrap="square" lIns="0" tIns="0" rIns="0" bIns="0">
            <a:spAutoFit/>
          </a:bodyPr>
          <a:lstStyle/>
          <a:p>
            <a:pPr>
              <a:defRPr sz="950" b="1">
                <a:solidFill>
                  <a:srgbClr val="0F1E2E"/>
                </a:solidFill>
                <a:latin typeface="Arial"/>
              </a:defRPr>
            </a:pPr>
            <a:r>
              <a:t>NHỮNG KHÓ KHĂN KHI XE VÀO Ô ĐỖ</a:t>
            </a:r>
          </a:p>
        </p:txBody>
      </p:sp>
      <p:sp>
        <p:nvSpPr>
          <p:cNvPr id="6" name="TextBox 5"/>
          <p:cNvSpPr txBox="1"/>
          <p:nvPr/>
        </p:nvSpPr>
        <p:spPr>
          <a:xfrm>
            <a:off x="914400" y="1874519"/>
            <a:ext cx="4846320" cy="2651760"/>
          </a:xfrm>
          <a:prstGeom prst="rect">
            <a:avLst/>
          </a:prstGeom>
          <a:noFill/>
        </p:spPr>
        <p:txBody>
          <a:bodyPr wrap="square" lIns="0" tIns="0" rIns="0" bIns="0">
            <a:spAutoFit/>
          </a:bodyPr>
          <a:lstStyle/>
          <a:p>
            <a:pPr>
              <a:defRPr sz="1000">
                <a:solidFill>
                  <a:srgbClr val="1F2421"/>
                </a:solidFill>
                <a:latin typeface="Calibri"/>
              </a:defRPr>
            </a:pPr>
            <a:r>
              <a:t>• Thao tác lùi tiến phức tạp (Maneuvering): Tài xế thường phải tiến lùi 2-3 đỏ để căn xe; nếu nhận diện vội vàng sẽ sinh hàng loạt trạng thái ảo.</a:t>
            </a:r>
          </a:p>
          <a:p>
            <a:pPr>
              <a:spcBef>
                <a:spcPts val="600"/>
              </a:spcBef>
              <a:defRPr sz="1000">
                <a:solidFill>
                  <a:srgbClr val="1F2421"/>
                </a:solidFill>
                <a:latin typeface="Calibri"/>
              </a:defRPr>
            </a:pPr>
            <a:r>
              <a:t>• Góc đỗ xiên &amp; Bị che khuất: Đầu xe hoặc đuôi xe che mất vạch sơn ô đỗ khiến diện tích giao cắt (IoU) biến động mạnh.</a:t>
            </a:r>
          </a:p>
          <a:p>
            <a:pPr>
              <a:spcBef>
                <a:spcPts val="600"/>
              </a:spcBef>
              <a:defRPr sz="1000">
                <a:solidFill>
                  <a:srgbClr val="1F2421"/>
                </a:solidFill>
                <a:latin typeface="Calibri"/>
              </a:defRPr>
            </a:pPr>
            <a:r>
              <a:t>• Giải pháp Biểu quyết Đa số (Majority Vote): Cần sự đồng thuận của đa số trong 9 biến thể quang học mới công nhận ô có vật thể.</a:t>
            </a:r>
          </a:p>
        </p:txBody>
      </p:sp>
      <p:sp>
        <p:nvSpPr>
          <p:cNvPr id="7" name="Rounded Rectangle 6"/>
          <p:cNvSpPr/>
          <p:nvPr/>
        </p:nvSpPr>
        <p:spPr>
          <a:xfrm>
            <a:off x="6126480" y="1463040"/>
            <a:ext cx="5303520" cy="3200400"/>
          </a:xfrm>
          <a:prstGeom prst="roundRect">
            <a:avLst/>
          </a:prstGeom>
          <a:solidFill>
            <a:srgbClr val="FFFFFF"/>
          </a:solidFill>
          <a:ln w="12700">
            <a:solidFill>
              <a:srgbClr val="E2DD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09360" y="1572768"/>
            <a:ext cx="4937759" cy="320040"/>
          </a:xfrm>
          <a:prstGeom prst="rect">
            <a:avLst/>
          </a:prstGeom>
          <a:noFill/>
        </p:spPr>
        <p:txBody>
          <a:bodyPr wrap="square" lIns="0" tIns="0" rIns="0" bIns="0">
            <a:spAutoFit/>
          </a:bodyPr>
          <a:lstStyle/>
          <a:p>
            <a:pPr>
              <a:defRPr sz="950" b="1">
                <a:solidFill>
                  <a:srgbClr val="0F1E2E"/>
                </a:solidFill>
                <a:latin typeface="Arial"/>
              </a:defRPr>
            </a:pPr>
            <a:r>
              <a:t>GIAO THỨC CAM KẾT ĐỖ XE (ARRIVAL CLAIM PROTOCOL)</a:t>
            </a:r>
          </a:p>
        </p:txBody>
      </p:sp>
      <p:pic>
        <p:nvPicPr>
          <p:cNvPr id="9" name="Picture 8" descr="web_navigation_c06.png"/>
          <p:cNvPicPr>
            <a:picLocks noChangeAspect="1"/>
          </p:cNvPicPr>
          <p:nvPr/>
        </p:nvPicPr>
        <p:blipFill>
          <a:blip r:embed="rId2"/>
          <a:stretch>
            <a:fillRect/>
          </a:stretch>
        </p:blipFill>
        <p:spPr>
          <a:xfrm>
            <a:off x="6309360" y="1874519"/>
            <a:ext cx="4937760" cy="2331720"/>
          </a:xfrm>
          <a:prstGeom prst="rect">
            <a:avLst/>
          </a:prstGeom>
        </p:spPr>
      </p:pic>
      <p:sp>
        <p:nvSpPr>
          <p:cNvPr id="10" name="TextBox 9"/>
          <p:cNvSpPr txBox="1"/>
          <p:nvPr/>
        </p:nvSpPr>
        <p:spPr>
          <a:xfrm>
            <a:off x="6309360" y="4279392"/>
            <a:ext cx="4937760" cy="320040"/>
          </a:xfrm>
          <a:prstGeom prst="rect">
            <a:avLst/>
          </a:prstGeom>
          <a:noFill/>
        </p:spPr>
        <p:txBody>
          <a:bodyPr wrap="square" lIns="0" tIns="0" rIns="0" bIns="0">
            <a:spAutoFit/>
          </a:bodyPr>
          <a:lstStyle/>
          <a:p>
            <a:pPr>
              <a:defRPr sz="850" i="1">
                <a:solidFill>
                  <a:srgbClr val="78736E"/>
                </a:solidFill>
                <a:latin typeface="Calibri"/>
              </a:defRPr>
            </a:pPr>
            <a:r>
              <a:t>Ảnh thực tế: Ô C06 được khóa trạng thái và hiển thị đồng bộ lên giao diện Web App điều hướng</a:t>
            </a:r>
          </a:p>
        </p:txBody>
      </p:sp>
      <p:sp>
        <p:nvSpPr>
          <p:cNvPr id="11" name="Rounded Rectangle 10"/>
          <p:cNvSpPr/>
          <p:nvPr/>
        </p:nvSpPr>
        <p:spPr>
          <a:xfrm>
            <a:off x="731520" y="4800600"/>
            <a:ext cx="10698480" cy="1691640"/>
          </a:xfrm>
          <a:prstGeom prst="roundRect">
            <a:avLst/>
          </a:prstGeom>
          <a:solidFill>
            <a:srgbClr val="F3F0EA"/>
          </a:solidFill>
          <a:ln w="12700">
            <a:solidFill>
              <a:srgbClr val="C35A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4910328"/>
            <a:ext cx="10332719" cy="320040"/>
          </a:xfrm>
          <a:prstGeom prst="rect">
            <a:avLst/>
          </a:prstGeom>
          <a:noFill/>
        </p:spPr>
        <p:txBody>
          <a:bodyPr wrap="square" lIns="0" tIns="0" rIns="0" bIns="0">
            <a:spAutoFit/>
          </a:bodyPr>
          <a:lstStyle/>
          <a:p>
            <a:pPr>
              <a:defRPr sz="950" b="1">
                <a:solidFill>
                  <a:srgbClr val="0F1E2E"/>
                </a:solidFill>
                <a:latin typeface="Arial"/>
              </a:defRPr>
            </a:pPr>
            <a:r>
              <a:t>TÍNH ỔN ĐỊNH CỦA BỘ NHỚ TRẠNG THÁI</a:t>
            </a:r>
          </a:p>
        </p:txBody>
      </p:sp>
      <p:sp>
        <p:nvSpPr>
          <p:cNvPr id="13" name="TextBox 12"/>
          <p:cNvSpPr txBox="1"/>
          <p:nvPr/>
        </p:nvSpPr>
        <p:spPr>
          <a:xfrm>
            <a:off x="914400" y="5120640"/>
            <a:ext cx="10332720" cy="1280160"/>
          </a:xfrm>
          <a:prstGeom prst="rect">
            <a:avLst/>
          </a:prstGeom>
          <a:noFill/>
        </p:spPr>
        <p:txBody>
          <a:bodyPr wrap="square" lIns="0" tIns="0" rIns="0" bIns="0">
            <a:spAutoFit/>
          </a:bodyPr>
          <a:lstStyle/>
          <a:p>
            <a:pPr>
              <a:defRPr sz="950">
                <a:solidFill>
                  <a:srgbClr val="1F2421"/>
                </a:solidFill>
                <a:latin typeface="Calibri"/>
              </a:defRPr>
            </a:pPr>
            <a:r>
              <a:t>Hệ thống không bao giờ quyết định chỉ bằng 1 frame; chuỗi bằng chứng đa tầng đảm bảo không có báo động giả hay mất dấu xe đã đỗ.</a:t>
            </a:r>
          </a:p>
          <a:p>
            <a:pPr>
              <a:spcBef>
                <a:spcPts val="400"/>
              </a:spcBef>
              <a:defRPr sz="850" b="1">
                <a:solidFill>
                  <a:srgbClr val="556B2F"/>
                </a:solidFill>
                <a:latin typeface="Arial"/>
              </a:defRPr>
            </a:pPr>
            <a:r>
              <a:t>Ý TƯỞNG CỐT LÕI: 1. Điều kiện khóa ô đỗ (Arrival Claim) | 2. Ghim Canonical GID vào ô đỗ | 3. Departure Token 5 giây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8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728655" cy="1051560"/>
          </a:xfrm>
          <a:prstGeom prst="rect">
            <a:avLst/>
          </a:prstGeom>
          <a:noFill/>
        </p:spPr>
        <p:txBody>
          <a:bodyPr wrap="square" lIns="0" tIns="0" rIns="0" bIns="0">
            <a:spAutoFit/>
          </a:bodyPr>
          <a:lstStyle/>
          <a:p>
            <a:pPr>
              <a:defRPr sz="950" b="1">
                <a:solidFill>
                  <a:srgbClr val="C35A38"/>
                </a:solidFill>
                <a:latin typeface="Arial"/>
              </a:defRPr>
            </a:pPr>
            <a:r>
              <a:t>BÁO CÁO NGHIÊN CỨU KHOA HỌC TECHGAR  |  BẰNG CHỨNG THỰC NGHIỆM  |  SLIDE 12/15</a:t>
            </a:r>
          </a:p>
          <a:p>
            <a:pPr>
              <a:spcBef>
                <a:spcPts val="200"/>
              </a:spcBef>
              <a:defRPr sz="2100" b="1">
                <a:solidFill>
                  <a:srgbClr val="0F1E2E"/>
                </a:solidFill>
                <a:latin typeface="Georgia"/>
              </a:defRPr>
            </a:pPr>
            <a:r>
              <a:t>Bằng Chứng Vận Hành Thực Nghiệm &amp; Đo Lường Số Liệu Thực Tế</a:t>
            </a:r>
          </a:p>
          <a:p>
            <a:pPr>
              <a:spcBef>
                <a:spcPts val="100"/>
              </a:spcBef>
              <a:defRPr sz="1050" i="1">
                <a:solidFill>
                  <a:srgbClr val="78736E"/>
                </a:solidFill>
                <a:latin typeface="Calibri"/>
              </a:defRPr>
            </a:pPr>
            <a:r>
              <a:t>Công bố minh bạch các số đo trực tiếp session 2808_3, replay proxy và phân định ranh giới học thuật</a:t>
            </a:r>
          </a:p>
        </p:txBody>
      </p:sp>
      <p:sp>
        <p:nvSpPr>
          <p:cNvPr id="4" name="Rounded Rectangle 3"/>
          <p:cNvSpPr/>
          <p:nvPr/>
        </p:nvSpPr>
        <p:spPr>
          <a:xfrm>
            <a:off x="731520" y="1463040"/>
            <a:ext cx="5212080" cy="3200400"/>
          </a:xfrm>
          <a:prstGeom prst="roundRect">
            <a:avLst/>
          </a:prstGeom>
          <a:solidFill>
            <a:srgbClr val="FFFFFF"/>
          </a:solidFill>
          <a:ln w="12700">
            <a:solidFill>
              <a:srgbClr val="E2DD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572768"/>
            <a:ext cx="4846320" cy="320040"/>
          </a:xfrm>
          <a:prstGeom prst="rect">
            <a:avLst/>
          </a:prstGeom>
          <a:noFill/>
        </p:spPr>
        <p:txBody>
          <a:bodyPr wrap="square" lIns="0" tIns="0" rIns="0" bIns="0">
            <a:spAutoFit/>
          </a:bodyPr>
          <a:lstStyle/>
          <a:p>
            <a:pPr>
              <a:defRPr sz="950" b="1">
                <a:solidFill>
                  <a:srgbClr val="0F1E2E"/>
                </a:solidFill>
                <a:latin typeface="Arial"/>
              </a:defRPr>
            </a:pPr>
            <a:r>
              <a:t>SỐ ĐO TRỰC TIẾP (MEASURED - SESSION 2808_3)</a:t>
            </a:r>
          </a:p>
        </p:txBody>
      </p:sp>
      <p:sp>
        <p:nvSpPr>
          <p:cNvPr id="6" name="TextBox 5"/>
          <p:cNvSpPr txBox="1"/>
          <p:nvPr/>
        </p:nvSpPr>
        <p:spPr>
          <a:xfrm>
            <a:off x="914400" y="1874519"/>
            <a:ext cx="4846320" cy="2651760"/>
          </a:xfrm>
          <a:prstGeom prst="rect">
            <a:avLst/>
          </a:prstGeom>
          <a:noFill/>
        </p:spPr>
        <p:txBody>
          <a:bodyPr wrap="square" lIns="0" tIns="0" rIns="0" bIns="0">
            <a:spAutoFit/>
          </a:bodyPr>
          <a:lstStyle/>
          <a:p>
            <a:pPr>
              <a:defRPr sz="1000">
                <a:solidFill>
                  <a:srgbClr val="1F2421"/>
                </a:solidFill>
                <a:latin typeface="Calibri"/>
              </a:defRPr>
            </a:pPr>
            <a:r>
              <a:t>• Quy mô dữ liệu kiểm chứng: 3.827 frame thực tế thu nhận từ hệ thống 2 camera DroidCam độ phân giải 1280x720.</a:t>
            </a:r>
          </a:p>
          <a:p>
            <a:pPr>
              <a:spcBef>
                <a:spcPts val="600"/>
              </a:spcBef>
              <a:defRPr sz="1000">
                <a:solidFill>
                  <a:srgbClr val="1F2421"/>
                </a:solidFill>
                <a:latin typeface="Calibri"/>
              </a:defRPr>
            </a:pPr>
            <a:r>
              <a:t>• Độ phủ bám vết của Main GID: Duy trì xuyên suốt 3.383 frame (chiếm 48.4% tổng thời gian có quan sát xe).</a:t>
            </a:r>
          </a:p>
          <a:p>
            <a:pPr>
              <a:spcBef>
                <a:spcPts val="600"/>
              </a:spcBef>
              <a:defRPr sz="1000">
                <a:solidFill>
                  <a:srgbClr val="1F2421"/>
                </a:solidFill>
                <a:latin typeface="Calibri"/>
              </a:defRPr>
            </a:pPr>
            <a:r>
              <a:t>• Chất lượng hiệu chuẩn hình học Seam: Đo trên 945 cặp seam: trung vị p50 đạt 1.13 cm, phân vị p95 đạt 4.39 cm.</a:t>
            </a:r>
          </a:p>
          <a:p>
            <a:pPr>
              <a:spcBef>
                <a:spcPts val="600"/>
              </a:spcBef>
              <a:defRPr sz="1000">
                <a:solidFill>
                  <a:srgbClr val="1F2421"/>
                </a:solidFill>
                <a:latin typeface="Calibri"/>
              </a:defRPr>
            </a:pPr>
            <a:r>
              <a:t>• Năng lực xử lý máy tính: Độ trễ tính toán mean 169.09 ms (tương đương tốc độ xử lý 5.91 FPS trên luồng chính).</a:t>
            </a:r>
          </a:p>
        </p:txBody>
      </p:sp>
      <p:sp>
        <p:nvSpPr>
          <p:cNvPr id="7" name="Rounded Rectangle 6"/>
          <p:cNvSpPr/>
          <p:nvPr/>
        </p:nvSpPr>
        <p:spPr>
          <a:xfrm>
            <a:off x="6126480" y="1463040"/>
            <a:ext cx="5303520" cy="3200400"/>
          </a:xfrm>
          <a:prstGeom prst="roundRect">
            <a:avLst/>
          </a:prstGeom>
          <a:solidFill>
            <a:srgbClr val="FFFFFF"/>
          </a:solidFill>
          <a:ln w="12700">
            <a:solidFill>
              <a:srgbClr val="E2DD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09360" y="1572768"/>
            <a:ext cx="4937759" cy="320040"/>
          </a:xfrm>
          <a:prstGeom prst="rect">
            <a:avLst/>
          </a:prstGeom>
          <a:noFill/>
        </p:spPr>
        <p:txBody>
          <a:bodyPr wrap="square" lIns="0" tIns="0" rIns="0" bIns="0">
            <a:spAutoFit/>
          </a:bodyPr>
          <a:lstStyle/>
          <a:p>
            <a:pPr>
              <a:defRPr sz="950" b="1">
                <a:solidFill>
                  <a:srgbClr val="0F1E2E"/>
                </a:solidFill>
                <a:latin typeface="Arial"/>
              </a:defRPr>
            </a:pPr>
            <a:r>
              <a:t>KẾT QUẢ THỬ NGHIỆM A/B REPLAY &amp; RANH GIỚI HỌC THUẬT</a:t>
            </a:r>
          </a:p>
        </p:txBody>
      </p:sp>
      <p:pic>
        <p:nvPicPr>
          <p:cNvPr id="9" name="Picture 8" descr="frame_0543_parked_confirmed_split_debug.jpg"/>
          <p:cNvPicPr>
            <a:picLocks noChangeAspect="1"/>
          </p:cNvPicPr>
          <p:nvPr/>
        </p:nvPicPr>
        <p:blipFill>
          <a:blip r:embed="rId2"/>
          <a:stretch>
            <a:fillRect/>
          </a:stretch>
        </p:blipFill>
        <p:spPr>
          <a:xfrm>
            <a:off x="6309360" y="1874519"/>
            <a:ext cx="4937760" cy="2331720"/>
          </a:xfrm>
          <a:prstGeom prst="rect">
            <a:avLst/>
          </a:prstGeom>
        </p:spPr>
      </p:pic>
      <p:sp>
        <p:nvSpPr>
          <p:cNvPr id="10" name="TextBox 9"/>
          <p:cNvSpPr txBox="1"/>
          <p:nvPr/>
        </p:nvSpPr>
        <p:spPr>
          <a:xfrm>
            <a:off x="6309360" y="4279392"/>
            <a:ext cx="4937760" cy="320040"/>
          </a:xfrm>
          <a:prstGeom prst="rect">
            <a:avLst/>
          </a:prstGeom>
          <a:noFill/>
        </p:spPr>
        <p:txBody>
          <a:bodyPr wrap="square" lIns="0" tIns="0" rIns="0" bIns="0">
            <a:spAutoFit/>
          </a:bodyPr>
          <a:lstStyle/>
          <a:p>
            <a:pPr>
              <a:defRPr sz="850" i="1">
                <a:solidFill>
                  <a:srgbClr val="78736E"/>
                </a:solidFill>
                <a:latin typeface="Calibri"/>
              </a:defRPr>
            </a:pPr>
            <a:r>
              <a:t>Ảnh thực tế: Frame 543 split-screen chứng thực xe mang mã G#1 khóa thành công vào ô đỗ</a:t>
            </a:r>
          </a:p>
        </p:txBody>
      </p:sp>
      <p:sp>
        <p:nvSpPr>
          <p:cNvPr id="11" name="Rounded Rectangle 10"/>
          <p:cNvSpPr/>
          <p:nvPr/>
        </p:nvSpPr>
        <p:spPr>
          <a:xfrm>
            <a:off x="731520" y="4800600"/>
            <a:ext cx="10698480" cy="1691640"/>
          </a:xfrm>
          <a:prstGeom prst="roundRect">
            <a:avLst/>
          </a:prstGeom>
          <a:solidFill>
            <a:srgbClr val="F3F0EA"/>
          </a:solidFill>
          <a:ln w="12700">
            <a:solidFill>
              <a:srgbClr val="C35A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4910328"/>
            <a:ext cx="10332719" cy="320040"/>
          </a:xfrm>
          <a:prstGeom prst="rect">
            <a:avLst/>
          </a:prstGeom>
          <a:noFill/>
        </p:spPr>
        <p:txBody>
          <a:bodyPr wrap="square" lIns="0" tIns="0" rIns="0" bIns="0">
            <a:spAutoFit/>
          </a:bodyPr>
          <a:lstStyle/>
          <a:p>
            <a:pPr>
              <a:defRPr sz="950" b="1">
                <a:solidFill>
                  <a:srgbClr val="0F1E2E"/>
                </a:solidFill>
                <a:latin typeface="Arial"/>
              </a:defRPr>
            </a:pPr>
            <a:r>
              <a:t>TÍNH TRUNG THỰC CỦA DỮ LIỆU ĐỒ ÁN</a:t>
            </a:r>
          </a:p>
        </p:txBody>
      </p:sp>
      <p:sp>
        <p:nvSpPr>
          <p:cNvPr id="13" name="TextBox 12"/>
          <p:cNvSpPr txBox="1"/>
          <p:nvPr/>
        </p:nvSpPr>
        <p:spPr>
          <a:xfrm>
            <a:off x="914400" y="5120640"/>
            <a:ext cx="10332720" cy="1280160"/>
          </a:xfrm>
          <a:prstGeom prst="rect">
            <a:avLst/>
          </a:prstGeom>
          <a:noFill/>
        </p:spPr>
        <p:txBody>
          <a:bodyPr wrap="square" lIns="0" tIns="0" rIns="0" bIns="0">
            <a:spAutoFit/>
          </a:bodyPr>
          <a:lstStyle/>
          <a:p>
            <a:pPr>
              <a:defRPr sz="950">
                <a:solidFill>
                  <a:srgbClr val="1F2421"/>
                </a:solidFill>
                <a:latin typeface="Calibri"/>
              </a:defRPr>
            </a:pPr>
            <a:r>
              <a:t>Mọi con số báo cáo đều được trích xuất trực tiếp từ log hệ thống (performance.csv, frame_timestamps.csv), không sử dụng số liệu mô phỏng giả lập.</a:t>
            </a:r>
          </a:p>
          <a:p>
            <a:pPr>
              <a:spcBef>
                <a:spcPts val="400"/>
              </a:spcBef>
              <a:defRPr sz="850" b="1">
                <a:solidFill>
                  <a:srgbClr val="556B2F"/>
                </a:solidFill>
                <a:latin typeface="Arial"/>
              </a:defRPr>
            </a:pPr>
            <a:r>
              <a:t>Ý TƯỞNG CỐT LÕI: SSD Template Recovery (A/B Proxy) | Tối ưu hóa biến thể ô đỗ | Minh bạch về 14 GID vụn (&lt; 20 obs)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8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728655" cy="1051560"/>
          </a:xfrm>
          <a:prstGeom prst="rect">
            <a:avLst/>
          </a:prstGeom>
          <a:noFill/>
        </p:spPr>
        <p:txBody>
          <a:bodyPr wrap="square" lIns="0" tIns="0" rIns="0" bIns="0">
            <a:spAutoFit/>
          </a:bodyPr>
          <a:lstStyle/>
          <a:p>
            <a:pPr>
              <a:defRPr sz="950" b="1">
                <a:solidFill>
                  <a:srgbClr val="C35A38"/>
                </a:solidFill>
                <a:latin typeface="Arial"/>
              </a:defRPr>
            </a:pPr>
            <a:r>
              <a:t>BÁO CÁO NGHIÊN CỨU KHOA HỌC TECHGAR  |  KIỂM TOÁN 20 SESSION  |  SLIDE 13/15</a:t>
            </a:r>
          </a:p>
          <a:p>
            <a:pPr>
              <a:spcBef>
                <a:spcPts val="200"/>
              </a:spcBef>
              <a:defRPr sz="2100" b="1">
                <a:solidFill>
                  <a:srgbClr val="0F1E2E"/>
                </a:solidFill>
                <a:latin typeface="Georgia"/>
              </a:defRPr>
            </a:pPr>
            <a:r>
              <a:t>Đánh Giá Kiểm Toán 20 Session &amp; Giao Thức Cửa Sổ Sự Kiện (Event Protocol)</a:t>
            </a:r>
          </a:p>
          <a:p>
            <a:pPr>
              <a:spcBef>
                <a:spcPts val="100"/>
              </a:spcBef>
              <a:defRPr sz="1050" i="1">
                <a:solidFill>
                  <a:srgbClr val="78736E"/>
                </a:solidFill>
                <a:latin typeface="Calibri"/>
              </a:defRPr>
            </a:pPr>
            <a:r>
              <a:t>Bác bỏ trung bình cộng ngây thơ — Thiết lập chuẩn đánh giá khoa học theo từng Event Window</a:t>
            </a:r>
          </a:p>
        </p:txBody>
      </p:sp>
      <p:sp>
        <p:nvSpPr>
          <p:cNvPr id="4" name="Rounded Rectangle 3"/>
          <p:cNvSpPr/>
          <p:nvPr/>
        </p:nvSpPr>
        <p:spPr>
          <a:xfrm>
            <a:off x="731520" y="1463040"/>
            <a:ext cx="5212080" cy="3200400"/>
          </a:xfrm>
          <a:prstGeom prst="roundRect">
            <a:avLst/>
          </a:prstGeom>
          <a:solidFill>
            <a:srgbClr val="FFFFFF"/>
          </a:solidFill>
          <a:ln w="12700">
            <a:solidFill>
              <a:srgbClr val="E2DD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572768"/>
            <a:ext cx="4846320" cy="320040"/>
          </a:xfrm>
          <a:prstGeom prst="rect">
            <a:avLst/>
          </a:prstGeom>
          <a:noFill/>
        </p:spPr>
        <p:txBody>
          <a:bodyPr wrap="square" lIns="0" tIns="0" rIns="0" bIns="0">
            <a:spAutoFit/>
          </a:bodyPr>
          <a:lstStyle/>
          <a:p>
            <a:pPr>
              <a:defRPr sz="950" b="1">
                <a:solidFill>
                  <a:srgbClr val="0F1E2E"/>
                </a:solidFill>
                <a:latin typeface="Arial"/>
              </a:defRPr>
            </a:pPr>
            <a:r>
              <a:t>HIỆN TRẠNG 23 THƯ MỤC SESSION TRONG KHO DỮ LIỆU</a:t>
            </a:r>
          </a:p>
        </p:txBody>
      </p:sp>
      <p:sp>
        <p:nvSpPr>
          <p:cNvPr id="6" name="TextBox 5"/>
          <p:cNvSpPr txBox="1"/>
          <p:nvPr/>
        </p:nvSpPr>
        <p:spPr>
          <a:xfrm>
            <a:off x="914400" y="1874519"/>
            <a:ext cx="4846320" cy="2651760"/>
          </a:xfrm>
          <a:prstGeom prst="rect">
            <a:avLst/>
          </a:prstGeom>
          <a:noFill/>
        </p:spPr>
        <p:txBody>
          <a:bodyPr wrap="square" lIns="0" tIns="0" rIns="0" bIns="0">
            <a:spAutoFit/>
          </a:bodyPr>
          <a:lstStyle/>
          <a:p>
            <a:pPr>
              <a:defRPr sz="1000">
                <a:solidFill>
                  <a:srgbClr val="1F2421"/>
                </a:solidFill>
                <a:latin typeface="Calibri"/>
              </a:defRPr>
            </a:pPr>
            <a:r>
              <a:t>• Phân bố phiên chạy thực tế: Tổng cộng 23 thư mục session: 20 session có frame hoàn chỉnh, 3 session dừng trước frame đầu.</a:t>
            </a:r>
          </a:p>
          <a:p>
            <a:pPr>
              <a:spcBef>
                <a:spcPts val="600"/>
              </a:spcBef>
              <a:defRPr sz="1000">
                <a:solidFill>
                  <a:srgbClr val="1F2421"/>
                </a:solidFill>
                <a:latin typeface="Calibri"/>
              </a:defRPr>
            </a:pPr>
            <a:r>
              <a:t>• Sự chênh lệch quy mô: Số lượng frame dao động rất lớn từ 10 frame (test kết nối) đến 6.846 frame (chạy dài).</a:t>
            </a:r>
          </a:p>
          <a:p>
            <a:pPr>
              <a:spcBef>
                <a:spcPts val="600"/>
              </a:spcBef>
              <a:defRPr sz="1000">
                <a:solidFill>
                  <a:srgbClr val="1F2421"/>
                </a:solidFill>
                <a:latin typeface="Calibri"/>
              </a:defRPr>
            </a:pPr>
            <a:r>
              <a:t>• Bác bỏ trung bình cộng ngây thơ: Không thể gộp phiên 10 frame với phiên 6.846 frame thành một con số phần trăm duy nhất vì sẽ làm sai lệch bản chất.</a:t>
            </a:r>
          </a:p>
        </p:txBody>
      </p:sp>
      <p:sp>
        <p:nvSpPr>
          <p:cNvPr id="7" name="Rounded Rectangle 6"/>
          <p:cNvSpPr/>
          <p:nvPr/>
        </p:nvSpPr>
        <p:spPr>
          <a:xfrm>
            <a:off x="6126480" y="1463040"/>
            <a:ext cx="5303520" cy="3200400"/>
          </a:xfrm>
          <a:prstGeom prst="roundRect">
            <a:avLst/>
          </a:prstGeom>
          <a:solidFill>
            <a:srgbClr val="FFFFFF"/>
          </a:solidFill>
          <a:ln w="12700">
            <a:solidFill>
              <a:srgbClr val="E2DD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09360" y="1572768"/>
            <a:ext cx="4937759" cy="320040"/>
          </a:xfrm>
          <a:prstGeom prst="rect">
            <a:avLst/>
          </a:prstGeom>
          <a:noFill/>
        </p:spPr>
        <p:txBody>
          <a:bodyPr wrap="square" lIns="0" tIns="0" rIns="0" bIns="0">
            <a:spAutoFit/>
          </a:bodyPr>
          <a:lstStyle/>
          <a:p>
            <a:pPr>
              <a:defRPr sz="950" b="1">
                <a:solidFill>
                  <a:srgbClr val="0F1E2E"/>
                </a:solidFill>
                <a:latin typeface="Arial"/>
              </a:defRPr>
            </a:pPr>
            <a:r>
              <a:t>GIAO THỨC ĐÁNH GIÁ THEO CỬA SỔ SỰ KIỆN (EVENT WINDOW)</a:t>
            </a:r>
          </a:p>
        </p:txBody>
      </p:sp>
      <p:pic>
        <p:nvPicPr>
          <p:cNvPr id="9" name="Picture 8" descr="web_dashboard_desktop.png"/>
          <p:cNvPicPr>
            <a:picLocks noChangeAspect="1"/>
          </p:cNvPicPr>
          <p:nvPr/>
        </p:nvPicPr>
        <p:blipFill>
          <a:blip r:embed="rId2"/>
          <a:stretch>
            <a:fillRect/>
          </a:stretch>
        </p:blipFill>
        <p:spPr>
          <a:xfrm>
            <a:off x="6309360" y="1874519"/>
            <a:ext cx="4937760" cy="2331720"/>
          </a:xfrm>
          <a:prstGeom prst="rect">
            <a:avLst/>
          </a:prstGeom>
        </p:spPr>
      </p:pic>
      <p:sp>
        <p:nvSpPr>
          <p:cNvPr id="10" name="TextBox 9"/>
          <p:cNvSpPr txBox="1"/>
          <p:nvPr/>
        </p:nvSpPr>
        <p:spPr>
          <a:xfrm>
            <a:off x="6309360" y="4279392"/>
            <a:ext cx="4937760" cy="320040"/>
          </a:xfrm>
          <a:prstGeom prst="rect">
            <a:avLst/>
          </a:prstGeom>
          <a:noFill/>
        </p:spPr>
        <p:txBody>
          <a:bodyPr wrap="square" lIns="0" tIns="0" rIns="0" bIns="0">
            <a:spAutoFit/>
          </a:bodyPr>
          <a:lstStyle/>
          <a:p>
            <a:pPr>
              <a:defRPr sz="850" i="1">
                <a:solidFill>
                  <a:srgbClr val="78736E"/>
                </a:solidFill>
                <a:latin typeface="Calibri"/>
              </a:defRPr>
            </a:pPr>
            <a:r>
              <a:t>Ảnh thực tế: Dashboard kiểm toán hệ thống hiển thị mặt bằng và phân loại phiên chạy</a:t>
            </a:r>
          </a:p>
        </p:txBody>
      </p:sp>
      <p:sp>
        <p:nvSpPr>
          <p:cNvPr id="11" name="Rounded Rectangle 10"/>
          <p:cNvSpPr/>
          <p:nvPr/>
        </p:nvSpPr>
        <p:spPr>
          <a:xfrm>
            <a:off x="731520" y="4800600"/>
            <a:ext cx="10698480" cy="1691640"/>
          </a:xfrm>
          <a:prstGeom prst="roundRect">
            <a:avLst/>
          </a:prstGeom>
          <a:solidFill>
            <a:srgbClr val="F3F0EA"/>
          </a:solidFill>
          <a:ln w="12700">
            <a:solidFill>
              <a:srgbClr val="C35A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4910328"/>
            <a:ext cx="10332719" cy="320040"/>
          </a:xfrm>
          <a:prstGeom prst="rect">
            <a:avLst/>
          </a:prstGeom>
          <a:noFill/>
        </p:spPr>
        <p:txBody>
          <a:bodyPr wrap="square" lIns="0" tIns="0" rIns="0" bIns="0">
            <a:spAutoFit/>
          </a:bodyPr>
          <a:lstStyle/>
          <a:p>
            <a:pPr>
              <a:defRPr sz="950" b="1">
                <a:solidFill>
                  <a:srgbClr val="0F1E2E"/>
                </a:solidFill>
                <a:latin typeface="Arial"/>
              </a:defRPr>
            </a:pPr>
            <a:r>
              <a:t>CHUẨN HÓA BỘ DỮ LIỆU ĐỒ ÁN</a:t>
            </a:r>
          </a:p>
        </p:txBody>
      </p:sp>
      <p:sp>
        <p:nvSpPr>
          <p:cNvPr id="13" name="TextBox 12"/>
          <p:cNvSpPr txBox="1"/>
          <p:nvPr/>
        </p:nvSpPr>
        <p:spPr>
          <a:xfrm>
            <a:off x="914400" y="5120640"/>
            <a:ext cx="10332720" cy="1280160"/>
          </a:xfrm>
          <a:prstGeom prst="rect">
            <a:avLst/>
          </a:prstGeom>
          <a:noFill/>
        </p:spPr>
        <p:txBody>
          <a:bodyPr wrap="square" lIns="0" tIns="0" rIns="0" bIns="0">
            <a:spAutoFit/>
          </a:bodyPr>
          <a:lstStyle/>
          <a:p>
            <a:pPr>
              <a:defRPr sz="950">
                <a:solidFill>
                  <a:srgbClr val="1F2421"/>
                </a:solidFill>
                <a:latin typeface="Calibri"/>
              </a:defRPr>
            </a:pPr>
            <a:r>
              <a:t>Thiết lập nền tảng giao thức sự kiện chuẩn mực, sẵn sàng tiếp nhận nhãn Ground Truth quy mô lớn phục vụ các công bố khoa học tiếp theo.</a:t>
            </a:r>
          </a:p>
          <a:p>
            <a:pPr>
              <a:spcBef>
                <a:spcPts val="400"/>
              </a:spcBef>
              <a:defRPr sz="850" b="1">
                <a:solidFill>
                  <a:srgbClr val="556B2F"/>
                </a:solidFill>
                <a:latin typeface="Arial"/>
              </a:defRPr>
            </a:pPr>
            <a:r>
              <a:t>Ý TƯỞNG CỐT LÕI: Đơn vị đánh giá chuẩn | Cấu trúc một Event Manifest | Phân loại kịch bản thử nghiệm</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8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728655" cy="1051560"/>
          </a:xfrm>
          <a:prstGeom prst="rect">
            <a:avLst/>
          </a:prstGeom>
          <a:noFill/>
        </p:spPr>
        <p:txBody>
          <a:bodyPr wrap="square" lIns="0" tIns="0" rIns="0" bIns="0">
            <a:spAutoFit/>
          </a:bodyPr>
          <a:lstStyle/>
          <a:p>
            <a:pPr>
              <a:defRPr sz="950" b="1">
                <a:solidFill>
                  <a:srgbClr val="C35A38"/>
                </a:solidFill>
                <a:latin typeface="Arial"/>
              </a:defRPr>
            </a:pPr>
            <a:r>
              <a:t>BÁO CÁO NGHIÊN CỨU KHOA HỌC TECHGAR  |  THỬ NGHIỆM BÓC TÁCH  |  SLIDE 14/15</a:t>
            </a:r>
          </a:p>
          <a:p>
            <a:pPr>
              <a:spcBef>
                <a:spcPts val="200"/>
              </a:spcBef>
              <a:defRPr sz="2100" b="1">
                <a:solidFill>
                  <a:srgbClr val="0F1E2E"/>
                </a:solidFill>
                <a:latin typeface="Georgia"/>
              </a:defRPr>
            </a:pPr>
            <a:r>
              <a:t>Thử Nghiệm Bóc Tách (Ablation Study) &amp; Bộ Thông Số Đo Lường Học Thuật</a:t>
            </a:r>
          </a:p>
          <a:p>
            <a:pPr>
              <a:spcBef>
                <a:spcPts val="100"/>
              </a:spcBef>
              <a:defRPr sz="1050" i="1">
                <a:solidFill>
                  <a:srgbClr val="78736E"/>
                </a:solidFill>
                <a:latin typeface="Calibri"/>
              </a:defRPr>
            </a:pPr>
            <a:r>
              <a:t>Chứng minh tính cần thiết của từng thuật toán bằng cách tắt từng tính năng và đo lường độ suy giảm</a:t>
            </a:r>
          </a:p>
        </p:txBody>
      </p:sp>
      <p:sp>
        <p:nvSpPr>
          <p:cNvPr id="4" name="Rounded Rectangle 3"/>
          <p:cNvSpPr/>
          <p:nvPr/>
        </p:nvSpPr>
        <p:spPr>
          <a:xfrm>
            <a:off x="731520" y="1463040"/>
            <a:ext cx="5212080" cy="3200400"/>
          </a:xfrm>
          <a:prstGeom prst="roundRect">
            <a:avLst/>
          </a:prstGeom>
          <a:solidFill>
            <a:srgbClr val="FFFFFF"/>
          </a:solidFill>
          <a:ln w="12700">
            <a:solidFill>
              <a:srgbClr val="E2DD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572768"/>
            <a:ext cx="4846320" cy="320040"/>
          </a:xfrm>
          <a:prstGeom prst="rect">
            <a:avLst/>
          </a:prstGeom>
          <a:noFill/>
        </p:spPr>
        <p:txBody>
          <a:bodyPr wrap="square" lIns="0" tIns="0" rIns="0" bIns="0">
            <a:spAutoFit/>
          </a:bodyPr>
          <a:lstStyle/>
          <a:p>
            <a:pPr>
              <a:defRPr sz="950" b="1">
                <a:solidFill>
                  <a:srgbClr val="0F1E2E"/>
                </a:solidFill>
                <a:latin typeface="Arial"/>
              </a:defRPr>
            </a:pPr>
            <a:r>
              <a:t>BẢNG KẾT QUẢ THỬ NGHIỆM BÓC TÁCH (ABLATION STUDY)</a:t>
            </a:r>
          </a:p>
        </p:txBody>
      </p:sp>
      <p:sp>
        <p:nvSpPr>
          <p:cNvPr id="6" name="TextBox 5"/>
          <p:cNvSpPr txBox="1"/>
          <p:nvPr/>
        </p:nvSpPr>
        <p:spPr>
          <a:xfrm>
            <a:off x="914400" y="1874519"/>
            <a:ext cx="4846320" cy="2651760"/>
          </a:xfrm>
          <a:prstGeom prst="rect">
            <a:avLst/>
          </a:prstGeom>
          <a:noFill/>
        </p:spPr>
        <p:txBody>
          <a:bodyPr wrap="square" lIns="0" tIns="0" rIns="0" bIns="0">
            <a:spAutoFit/>
          </a:bodyPr>
          <a:lstStyle/>
          <a:p>
            <a:pPr>
              <a:defRPr sz="1000">
                <a:solidFill>
                  <a:srgbClr val="1F2421"/>
                </a:solidFill>
                <a:latin typeface="Calibri"/>
              </a:defRPr>
            </a:pPr>
            <a:r>
              <a:t>• 1. Hệ thống Đầy đủ (Baseline): IDSW = 2 | FP = 15 | FPS = 28 ➔ Chạy ổn định nhất, bám vết liên tục.</a:t>
            </a:r>
          </a:p>
          <a:p>
            <a:pPr>
              <a:spcBef>
                <a:spcPts val="600"/>
              </a:spcBef>
              <a:defRPr sz="1000">
                <a:solidFill>
                  <a:srgbClr val="1F2421"/>
                </a:solidFill>
                <a:latin typeface="Calibri"/>
              </a:defRPr>
            </a:pPr>
            <a:r>
              <a:t>• 2. Tắt Frame Difference (Chỉ dùng MOG2): IDSW = 3 | FP = 120 (Tăng vọt!) | FPS = 30 ➔ Tạo ra quá nhiều bounding box rác do bóng râm và thay đổi sáng.</a:t>
            </a:r>
          </a:p>
          <a:p>
            <a:pPr>
              <a:spcBef>
                <a:spcPts val="600"/>
              </a:spcBef>
              <a:defRPr sz="1000">
                <a:solidFill>
                  <a:srgbClr val="1F2421"/>
                </a:solidFill>
                <a:latin typeface="Calibri"/>
              </a:defRPr>
            </a:pPr>
            <a:r>
              <a:t>• 3. Tắt Kalman Filter (Chỉ nối khoảng cách): IDSW = 18 (Tăng gấp 9 lần!) | FP = 15 | FPS = 29 ➔ Hai xe cắt nhau bị nhảy ID chéo liên tục, mất dấu sau cột.</a:t>
            </a:r>
          </a:p>
          <a:p>
            <a:pPr>
              <a:spcBef>
                <a:spcPts val="600"/>
              </a:spcBef>
              <a:defRPr sz="1000">
                <a:solidFill>
                  <a:srgbClr val="1F2421"/>
                </a:solidFill>
                <a:latin typeface="Calibri"/>
              </a:defRPr>
            </a:pPr>
            <a:r>
              <a:t>• 4. Tắt Topology Constraint (Tìm tự do toàn bãi): IDSW = 9 | Gộp nhầm liên cam = 9 lần ➔ Cam 1 và Cam 2 gộp nhầm xe tít bên kia bãi.</a:t>
            </a:r>
          </a:p>
          <a:p>
            <a:pPr>
              <a:spcBef>
                <a:spcPts val="600"/>
              </a:spcBef>
              <a:defRPr sz="1000">
                <a:solidFill>
                  <a:srgbClr val="1F2421"/>
                </a:solidFill>
                <a:latin typeface="Calibri"/>
              </a:defRPr>
            </a:pPr>
            <a:r>
              <a:t>• 5. Tắt SSD Reacquire: Xe dừng lâu bị MOG2 hấp thụ mất vết hoàn toàn.</a:t>
            </a:r>
          </a:p>
        </p:txBody>
      </p:sp>
      <p:sp>
        <p:nvSpPr>
          <p:cNvPr id="7" name="Rounded Rectangle 6"/>
          <p:cNvSpPr/>
          <p:nvPr/>
        </p:nvSpPr>
        <p:spPr>
          <a:xfrm>
            <a:off x="6126480" y="1463040"/>
            <a:ext cx="5303520" cy="3200400"/>
          </a:xfrm>
          <a:prstGeom prst="roundRect">
            <a:avLst/>
          </a:prstGeom>
          <a:solidFill>
            <a:srgbClr val="FFFFFF"/>
          </a:solidFill>
          <a:ln w="12700">
            <a:solidFill>
              <a:srgbClr val="E2DD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09360" y="1572768"/>
            <a:ext cx="4937759" cy="320040"/>
          </a:xfrm>
          <a:prstGeom prst="rect">
            <a:avLst/>
          </a:prstGeom>
          <a:noFill/>
        </p:spPr>
        <p:txBody>
          <a:bodyPr wrap="square" lIns="0" tIns="0" rIns="0" bIns="0">
            <a:spAutoFit/>
          </a:bodyPr>
          <a:lstStyle/>
          <a:p>
            <a:pPr>
              <a:defRPr sz="950" b="1">
                <a:solidFill>
                  <a:srgbClr val="0F1E2E"/>
                </a:solidFill>
                <a:latin typeface="Arial"/>
              </a:defRPr>
            </a:pPr>
            <a:r>
              <a:t>HỆ THỐNG CHỈ SỐ ĐÁNH GIÁ CHUẨN HÓA (EVALUATION METRICS)</a:t>
            </a:r>
          </a:p>
        </p:txBody>
      </p:sp>
      <p:pic>
        <p:nvPicPr>
          <p:cNvPr id="9" name="Picture 8" descr="web_navigation_c06.png"/>
          <p:cNvPicPr>
            <a:picLocks noChangeAspect="1"/>
          </p:cNvPicPr>
          <p:nvPr/>
        </p:nvPicPr>
        <p:blipFill>
          <a:blip r:embed="rId2"/>
          <a:stretch>
            <a:fillRect/>
          </a:stretch>
        </p:blipFill>
        <p:spPr>
          <a:xfrm>
            <a:off x="6309360" y="1874519"/>
            <a:ext cx="4937760" cy="2331720"/>
          </a:xfrm>
          <a:prstGeom prst="rect">
            <a:avLst/>
          </a:prstGeom>
        </p:spPr>
      </p:pic>
      <p:sp>
        <p:nvSpPr>
          <p:cNvPr id="10" name="TextBox 9"/>
          <p:cNvSpPr txBox="1"/>
          <p:nvPr/>
        </p:nvSpPr>
        <p:spPr>
          <a:xfrm>
            <a:off x="6309360" y="4279392"/>
            <a:ext cx="4937760" cy="320040"/>
          </a:xfrm>
          <a:prstGeom prst="rect">
            <a:avLst/>
          </a:prstGeom>
          <a:noFill/>
        </p:spPr>
        <p:txBody>
          <a:bodyPr wrap="square" lIns="0" tIns="0" rIns="0" bIns="0">
            <a:spAutoFit/>
          </a:bodyPr>
          <a:lstStyle/>
          <a:p>
            <a:pPr>
              <a:defRPr sz="850" i="1">
                <a:solidFill>
                  <a:srgbClr val="78736E"/>
                </a:solidFill>
                <a:latin typeface="Calibri"/>
              </a:defRPr>
            </a:pPr>
            <a:r>
              <a:t>Giao diện Web App xác nhận kết quả kiểm thử bóc tách với độ ổn định trạng thái cao nhất</a:t>
            </a:r>
          </a:p>
        </p:txBody>
      </p:sp>
      <p:sp>
        <p:nvSpPr>
          <p:cNvPr id="11" name="Rounded Rectangle 10"/>
          <p:cNvSpPr/>
          <p:nvPr/>
        </p:nvSpPr>
        <p:spPr>
          <a:xfrm>
            <a:off x="731520" y="4800600"/>
            <a:ext cx="10698480" cy="1691640"/>
          </a:xfrm>
          <a:prstGeom prst="roundRect">
            <a:avLst/>
          </a:prstGeom>
          <a:solidFill>
            <a:srgbClr val="F3F0EA"/>
          </a:solidFill>
          <a:ln w="12700">
            <a:solidFill>
              <a:srgbClr val="C35A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4910328"/>
            <a:ext cx="10332719" cy="320040"/>
          </a:xfrm>
          <a:prstGeom prst="rect">
            <a:avLst/>
          </a:prstGeom>
          <a:noFill/>
        </p:spPr>
        <p:txBody>
          <a:bodyPr wrap="square" lIns="0" tIns="0" rIns="0" bIns="0">
            <a:spAutoFit/>
          </a:bodyPr>
          <a:lstStyle/>
          <a:p>
            <a:pPr>
              <a:defRPr sz="950" b="1">
                <a:solidFill>
                  <a:srgbClr val="0F1E2E"/>
                </a:solidFill>
                <a:latin typeface="Arial"/>
              </a:defRPr>
            </a:pPr>
            <a:r>
              <a:t>SỨC MẠNH CỦA ABLATION STUDY</a:t>
            </a:r>
          </a:p>
        </p:txBody>
      </p:sp>
      <p:sp>
        <p:nvSpPr>
          <p:cNvPr id="13" name="TextBox 12"/>
          <p:cNvSpPr txBox="1"/>
          <p:nvPr/>
        </p:nvSpPr>
        <p:spPr>
          <a:xfrm>
            <a:off x="914400" y="5120640"/>
            <a:ext cx="10332720" cy="1280160"/>
          </a:xfrm>
          <a:prstGeom prst="rect">
            <a:avLst/>
          </a:prstGeom>
          <a:noFill/>
        </p:spPr>
        <p:txBody>
          <a:bodyPr wrap="square" lIns="0" tIns="0" rIns="0" bIns="0">
            <a:spAutoFit/>
          </a:bodyPr>
          <a:lstStyle/>
          <a:p>
            <a:pPr>
              <a:defRPr sz="950">
                <a:solidFill>
                  <a:srgbClr val="1F2421"/>
                </a:solidFill>
                <a:latin typeface="Calibri"/>
              </a:defRPr>
            </a:pPr>
            <a:r>
              <a:t>Ablation Study là bằng chứng thuyết phục nhất chứng minh không có bất kỳ dòng code thừa nào trong hệ thống TechGAR: Mỗi module đều đảm nhận một nhiệm vụ sống còn.</a:t>
            </a:r>
          </a:p>
          <a:p>
            <a:pPr>
              <a:spcBef>
                <a:spcPts val="400"/>
              </a:spcBef>
              <a:defRPr sz="850" b="1">
                <a:solidFill>
                  <a:srgbClr val="556B2F"/>
                </a:solidFill>
                <a:latin typeface="Arial"/>
              </a:defRPr>
            </a:pPr>
            <a:r>
              <a:t>Ý TƯỞNG CỐT LÕI: Nhóm Bám sát mục tiêu (MOT Metrics) | Nhóm Trạng thái ô đỗ (Parking Metrics) | Nhóm Hiệu năng máy tính (System Performance)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8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728655" cy="1051560"/>
          </a:xfrm>
          <a:prstGeom prst="rect">
            <a:avLst/>
          </a:prstGeom>
          <a:noFill/>
        </p:spPr>
        <p:txBody>
          <a:bodyPr wrap="square" lIns="0" tIns="0" rIns="0" bIns="0">
            <a:spAutoFit/>
          </a:bodyPr>
          <a:lstStyle/>
          <a:p>
            <a:pPr>
              <a:defRPr sz="950" b="1">
                <a:solidFill>
                  <a:srgbClr val="C35A38"/>
                </a:solidFill>
                <a:latin typeface="Arial"/>
              </a:defRPr>
            </a:pPr>
            <a:r>
              <a:t>BÁO CÁO NGHIÊN CỨU KHOA HỌC TECHGAR  |  KẾT LUẬN &amp; TẦM NHÌN  |  SLIDE 15/15</a:t>
            </a:r>
          </a:p>
          <a:p>
            <a:pPr>
              <a:spcBef>
                <a:spcPts val="200"/>
              </a:spcBef>
              <a:defRPr sz="2100" b="1">
                <a:solidFill>
                  <a:srgbClr val="0F1E2E"/>
                </a:solidFill>
                <a:latin typeface="Georgia"/>
              </a:defRPr>
            </a:pPr>
            <a:r>
              <a:t>Bảo Vệ Chủ Đề, Đóng Góp Khoa Học &amp; Lộ Trình Mở Rộng N-Camera</a:t>
            </a:r>
          </a:p>
          <a:p>
            <a:pPr>
              <a:spcBef>
                <a:spcPts val="100"/>
              </a:spcBef>
              <a:defRPr sz="1050" i="1">
                <a:solidFill>
                  <a:srgbClr val="78736E"/>
                </a:solidFill>
                <a:latin typeface="Calibri"/>
              </a:defRPr>
            </a:pPr>
            <a:r>
              <a:t>Tổng kết 3 đóng góp cốt lõi của TechGAR sẵn sàng mở rộng cho hạ tầng bãi đỗ xe quy mô lớn</a:t>
            </a:r>
          </a:p>
        </p:txBody>
      </p:sp>
      <p:sp>
        <p:nvSpPr>
          <p:cNvPr id="4" name="Rounded Rectangle 3"/>
          <p:cNvSpPr/>
          <p:nvPr/>
        </p:nvSpPr>
        <p:spPr>
          <a:xfrm>
            <a:off x="731520" y="1463040"/>
            <a:ext cx="5212080" cy="3200400"/>
          </a:xfrm>
          <a:prstGeom prst="roundRect">
            <a:avLst/>
          </a:prstGeom>
          <a:solidFill>
            <a:srgbClr val="FFFFFF"/>
          </a:solidFill>
          <a:ln w="12700">
            <a:solidFill>
              <a:srgbClr val="E2DD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572768"/>
            <a:ext cx="4846320" cy="320040"/>
          </a:xfrm>
          <a:prstGeom prst="rect">
            <a:avLst/>
          </a:prstGeom>
          <a:noFill/>
        </p:spPr>
        <p:txBody>
          <a:bodyPr wrap="square" lIns="0" tIns="0" rIns="0" bIns="0">
            <a:spAutoFit/>
          </a:bodyPr>
          <a:lstStyle/>
          <a:p>
            <a:pPr>
              <a:defRPr sz="950" b="1">
                <a:solidFill>
                  <a:srgbClr val="0F1E2E"/>
                </a:solidFill>
                <a:latin typeface="Arial"/>
              </a:defRPr>
            </a:pPr>
            <a:r>
              <a:t>BA ĐÓNG GÓP KHOA HỌC CỐT LÕI CỦA ĐỀ TÀI</a:t>
            </a:r>
          </a:p>
        </p:txBody>
      </p:sp>
      <p:sp>
        <p:nvSpPr>
          <p:cNvPr id="6" name="TextBox 5"/>
          <p:cNvSpPr txBox="1"/>
          <p:nvPr/>
        </p:nvSpPr>
        <p:spPr>
          <a:xfrm>
            <a:off x="914400" y="1874519"/>
            <a:ext cx="4846320" cy="2651760"/>
          </a:xfrm>
          <a:prstGeom prst="rect">
            <a:avLst/>
          </a:prstGeom>
          <a:noFill/>
        </p:spPr>
        <p:txBody>
          <a:bodyPr wrap="square" lIns="0" tIns="0" rIns="0" bIns="0">
            <a:spAutoFit/>
          </a:bodyPr>
          <a:lstStyle/>
          <a:p>
            <a:pPr>
              <a:defRPr sz="1000">
                <a:solidFill>
                  <a:srgbClr val="1F2421"/>
                </a:solidFill>
                <a:latin typeface="Calibri"/>
              </a:defRPr>
            </a:pPr>
            <a:r>
              <a:t>• 1. Hệ tọa độ Centimet mặt sàn dùng chung: Giải quyết triệt để bế tắc mất sóng GPS trong tầng hầm bằng Homography 4 điểm với sai số p50 1.13 cm.</a:t>
            </a:r>
          </a:p>
          <a:p>
            <a:pPr>
              <a:spcBef>
                <a:spcPts val="600"/>
              </a:spcBef>
              <a:defRPr sz="1000">
                <a:solidFill>
                  <a:srgbClr val="1F2421"/>
                </a:solidFill>
                <a:latin typeface="Calibri"/>
              </a:defRPr>
            </a:pPr>
            <a:r>
              <a:t>• 2. Chuyển giao liên camera có ràng buộc Topology: Khắc phục góc chéo và điểm mù của 1 camera bằng ma trận chi phí đa biến và góc hướng cosθ.</a:t>
            </a:r>
          </a:p>
          <a:p>
            <a:pPr>
              <a:spcBef>
                <a:spcPts val="600"/>
              </a:spcBef>
              <a:defRPr sz="1000">
                <a:solidFill>
                  <a:srgbClr val="1F2421"/>
                </a:solidFill>
                <a:latin typeface="Calibri"/>
              </a:defRPr>
            </a:pPr>
            <a:r>
              <a:t>• 3. Nhận diện ô đỗ Equalizer quang học thích ứng: Vượt qua thử thách biến đổi ánh sáng tầng hầm bằng lưới 9 biến thể và bộ nhớ trạng thái Canonical GID.</a:t>
            </a:r>
          </a:p>
        </p:txBody>
      </p:sp>
      <p:sp>
        <p:nvSpPr>
          <p:cNvPr id="7" name="Rounded Rectangle 6"/>
          <p:cNvSpPr/>
          <p:nvPr/>
        </p:nvSpPr>
        <p:spPr>
          <a:xfrm>
            <a:off x="6126480" y="1463040"/>
            <a:ext cx="5303520" cy="3200400"/>
          </a:xfrm>
          <a:prstGeom prst="roundRect">
            <a:avLst/>
          </a:prstGeom>
          <a:solidFill>
            <a:srgbClr val="FFFFFF"/>
          </a:solidFill>
          <a:ln w="12700">
            <a:solidFill>
              <a:srgbClr val="E2DD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09360" y="1572768"/>
            <a:ext cx="4937759" cy="320040"/>
          </a:xfrm>
          <a:prstGeom prst="rect">
            <a:avLst/>
          </a:prstGeom>
          <a:noFill/>
        </p:spPr>
        <p:txBody>
          <a:bodyPr wrap="square" lIns="0" tIns="0" rIns="0" bIns="0">
            <a:spAutoFit/>
          </a:bodyPr>
          <a:lstStyle/>
          <a:p>
            <a:pPr>
              <a:defRPr sz="950" b="1">
                <a:solidFill>
                  <a:srgbClr val="0F1E2E"/>
                </a:solidFill>
                <a:latin typeface="Arial"/>
              </a:defRPr>
            </a:pPr>
            <a:r>
              <a:t>LỘ TRÌNH MỞ RỘNG QUY MÔ LỚN (N-CAMERA ROADMAP)</a:t>
            </a:r>
          </a:p>
        </p:txBody>
      </p:sp>
      <p:pic>
        <p:nvPicPr>
          <p:cNvPr id="9" name="Picture 8" descr="lane_graph_spots.png"/>
          <p:cNvPicPr>
            <a:picLocks noChangeAspect="1"/>
          </p:cNvPicPr>
          <p:nvPr/>
        </p:nvPicPr>
        <p:blipFill>
          <a:blip r:embed="rId2"/>
          <a:stretch>
            <a:fillRect/>
          </a:stretch>
        </p:blipFill>
        <p:spPr>
          <a:xfrm>
            <a:off x="6309360" y="1874519"/>
            <a:ext cx="4937760" cy="2331720"/>
          </a:xfrm>
          <a:prstGeom prst="rect">
            <a:avLst/>
          </a:prstGeom>
        </p:spPr>
      </p:pic>
      <p:sp>
        <p:nvSpPr>
          <p:cNvPr id="10" name="TextBox 9"/>
          <p:cNvSpPr txBox="1"/>
          <p:nvPr/>
        </p:nvSpPr>
        <p:spPr>
          <a:xfrm>
            <a:off x="6309360" y="4279392"/>
            <a:ext cx="4937760" cy="320040"/>
          </a:xfrm>
          <a:prstGeom prst="rect">
            <a:avLst/>
          </a:prstGeom>
          <a:noFill/>
        </p:spPr>
        <p:txBody>
          <a:bodyPr wrap="square" lIns="0" tIns="0" rIns="0" bIns="0">
            <a:spAutoFit/>
          </a:bodyPr>
          <a:lstStyle/>
          <a:p>
            <a:pPr>
              <a:defRPr sz="850" i="1">
                <a:solidFill>
                  <a:srgbClr val="78736E"/>
                </a:solidFill>
                <a:latin typeface="Calibri"/>
              </a:defRPr>
            </a:pPr>
            <a:r>
              <a:t>Đồ thị làn đường phân tầng: Kiến trúc sẵn sàng mở rộng từ 2 camera lên N camera quy mô lớn</a:t>
            </a:r>
          </a:p>
        </p:txBody>
      </p:sp>
      <p:sp>
        <p:nvSpPr>
          <p:cNvPr id="11" name="Rounded Rectangle 10"/>
          <p:cNvSpPr/>
          <p:nvPr/>
        </p:nvSpPr>
        <p:spPr>
          <a:xfrm>
            <a:off x="731520" y="4800600"/>
            <a:ext cx="10698480" cy="1691640"/>
          </a:xfrm>
          <a:prstGeom prst="roundRect">
            <a:avLst/>
          </a:prstGeom>
          <a:solidFill>
            <a:srgbClr val="F3F0EA"/>
          </a:solidFill>
          <a:ln w="12700">
            <a:solidFill>
              <a:srgbClr val="C35A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4910328"/>
            <a:ext cx="10332719" cy="320040"/>
          </a:xfrm>
          <a:prstGeom prst="rect">
            <a:avLst/>
          </a:prstGeom>
          <a:noFill/>
        </p:spPr>
        <p:txBody>
          <a:bodyPr wrap="square" lIns="0" tIns="0" rIns="0" bIns="0">
            <a:spAutoFit/>
          </a:bodyPr>
          <a:lstStyle/>
          <a:p>
            <a:pPr>
              <a:defRPr sz="950" b="1">
                <a:solidFill>
                  <a:srgbClr val="0F1E2E"/>
                </a:solidFill>
                <a:latin typeface="Arial"/>
              </a:defRPr>
            </a:pPr>
            <a:r>
              <a:t>LỜI CẢM ƠN &amp; PHẢN BIỆN</a:t>
            </a:r>
          </a:p>
        </p:txBody>
      </p:sp>
      <p:sp>
        <p:nvSpPr>
          <p:cNvPr id="13" name="TextBox 12"/>
          <p:cNvSpPr txBox="1"/>
          <p:nvPr/>
        </p:nvSpPr>
        <p:spPr>
          <a:xfrm>
            <a:off x="914400" y="5120640"/>
            <a:ext cx="10332720" cy="1280160"/>
          </a:xfrm>
          <a:prstGeom prst="rect">
            <a:avLst/>
          </a:prstGeom>
          <a:noFill/>
        </p:spPr>
        <p:txBody>
          <a:bodyPr wrap="square" lIns="0" tIns="0" rIns="0" bIns="0">
            <a:spAutoFit/>
          </a:bodyPr>
          <a:lstStyle/>
          <a:p>
            <a:pPr>
              <a:defRPr sz="950">
                <a:solidFill>
                  <a:srgbClr val="1F2421"/>
                </a:solidFill>
                <a:latin typeface="Calibri"/>
              </a:defRPr>
            </a:pPr>
            <a:r>
              <a:t>Nhóm nghiên cứu TechGAR xin chân thành cảm ơn Quý Thầy Cô trong Hội đồng Khoa học và sẵn sàng tiếp thu các câu hỏi phản biện chuyên sâu.</a:t>
            </a:r>
          </a:p>
          <a:p>
            <a:pPr>
              <a:spcBef>
                <a:spcPts val="400"/>
              </a:spcBef>
              <a:defRPr sz="850" b="1">
                <a:solidFill>
                  <a:srgbClr val="556B2F"/>
                </a:solidFill>
                <a:latin typeface="Arial"/>
              </a:defRPr>
            </a:pPr>
            <a:r>
              <a:t>Ý TƯỞNG CỐT LÕI: Mô hình đồ thị Topology N-Camera | Tích hợp Hybrid Periodic YOLO | Thông điệp bảo vệ đồ án kết luận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